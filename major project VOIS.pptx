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4"/>
  </p:notesMasterIdLst>
  <p:handoutMasterIdLst>
    <p:handoutMasterId r:id="rId25"/>
  </p:handoutMasterIdLst>
  <p:sldIdLst>
    <p:sldId id="338" r:id="rId5"/>
    <p:sldId id="327" r:id="rId6"/>
    <p:sldId id="315" r:id="rId7"/>
    <p:sldId id="329" r:id="rId8"/>
    <p:sldId id="302" r:id="rId9"/>
    <p:sldId id="340" r:id="rId10"/>
    <p:sldId id="339" r:id="rId11"/>
    <p:sldId id="344" r:id="rId12"/>
    <p:sldId id="345" r:id="rId13"/>
    <p:sldId id="346" r:id="rId14"/>
    <p:sldId id="347" r:id="rId15"/>
    <p:sldId id="348" r:id="rId16"/>
    <p:sldId id="349" r:id="rId17"/>
    <p:sldId id="350" r:id="rId18"/>
    <p:sldId id="351" r:id="rId19"/>
    <p:sldId id="341" r:id="rId20"/>
    <p:sldId id="342" r:id="rId21"/>
    <p:sldId id="343" r:id="rId22"/>
    <p:sldId id="30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5" d="100"/>
          <a:sy n="85" d="100"/>
        </p:scale>
        <p:origin x="49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Ashutosh-dutta07"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29366" y="3655498"/>
            <a:ext cx="5928634" cy="861497"/>
          </a:xfrm>
        </p:spPr>
        <p:txBody>
          <a:bodyPr vert="horz" lIns="91440" tIns="45720" rIns="91440" bIns="45720" rtlCol="0" anchor="t">
            <a:normAutofit/>
          </a:bodyPr>
          <a:lstStyle/>
          <a:p>
            <a:pPr algn="just"/>
            <a:r>
              <a:rPr lang="en-US" dirty="0">
                <a:solidFill>
                  <a:schemeClr val="tx1"/>
                </a:solidFill>
              </a:rPr>
              <a:t>Student name</a:t>
            </a:r>
            <a:r>
              <a:rPr lang="en-US" b="0" dirty="0">
                <a:solidFill>
                  <a:schemeClr val="tx1"/>
                </a:solidFill>
              </a:rPr>
              <a:t>:-</a:t>
            </a:r>
            <a:r>
              <a:rPr lang="en-US" dirty="0">
                <a:solidFill>
                  <a:schemeClr val="tx1"/>
                </a:solidFill>
              </a:rPr>
              <a:t>Ashutosh </a:t>
            </a:r>
            <a:r>
              <a:rPr lang="en-US" dirty="0" err="1">
                <a:solidFill>
                  <a:schemeClr val="tx1"/>
                </a:solidFill>
              </a:rPr>
              <a:t>kumar</a:t>
            </a:r>
            <a:r>
              <a:rPr lang="en-US" dirty="0">
                <a:solidFill>
                  <a:schemeClr val="tx1"/>
                </a:solidFill>
              </a:rPr>
              <a:t>  </a:t>
            </a:r>
            <a:endParaRPr lang="en-IN" dirty="0">
              <a:solidFill>
                <a:schemeClr val="tx1"/>
              </a:solidFill>
            </a:endParaRPr>
          </a:p>
          <a:p>
            <a:pPr algn="just"/>
            <a:r>
              <a:rPr lang="en-US" dirty="0">
                <a:solidFill>
                  <a:schemeClr val="tx1"/>
                </a:solidFill>
              </a:rPr>
              <a:t>College Name-Shivalik college of engineering </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034596" cy="646331"/>
          </a:xfrm>
        </p:spPr>
        <p:txBody>
          <a:bodyPr>
            <a:normAutofit fontScale="90000"/>
          </a:bodyPr>
          <a:lstStyle/>
          <a:p>
            <a:r>
              <a:rPr lang="en-GB" sz="2700" b="1" u="sng" dirty="0"/>
              <a:t>Project Title :</a:t>
            </a:r>
            <a:r>
              <a:rPr lang="en-GB" sz="3200" dirty="0"/>
              <a:t>-</a:t>
            </a:r>
            <a:r>
              <a:rPr lang="en-IN" b="1" dirty="0"/>
              <a:t>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443394" cy="369332"/>
          </a:xfrm>
          <a:prstGeom prst="rect">
            <a:avLst/>
          </a:prstGeom>
          <a:noFill/>
        </p:spPr>
        <p:txBody>
          <a:bodyPr wrap="square" rtlCol="0">
            <a:spAutoFit/>
          </a:bodyPr>
          <a:lstStyle/>
          <a:p>
            <a:r>
              <a:rPr lang="en-US" b="1" dirty="0"/>
              <a:t>AICTE STU ID : (</a:t>
            </a:r>
            <a:r>
              <a:rPr lang="en-US" b="1" dirty="0" err="1"/>
              <a:t>STU69e798523e4941776785490</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a:extLst>
              <a:ext uri="{FF2B5EF4-FFF2-40B4-BE49-F238E27FC236}">
                <a16:creationId xmlns:a16="http://schemas.microsoft.com/office/drawing/2014/main" id="{54725851-8557-D1A8-BBFD-C98F80EC92AD}"/>
              </a:ext>
            </a:extLst>
          </p:cNvPr>
          <p:cNvSpPr txBox="1"/>
          <p:nvPr/>
        </p:nvSpPr>
        <p:spPr>
          <a:xfrm>
            <a:off x="467359" y="1335741"/>
            <a:ext cx="8838006" cy="3785652"/>
          </a:xfrm>
          <a:prstGeom prst="rect">
            <a:avLst/>
          </a:prstGeom>
          <a:noFill/>
        </p:spPr>
        <p:txBody>
          <a:bodyPr wrap="square" rtlCol="0">
            <a:spAutoFit/>
          </a:bodyPr>
          <a:lstStyle/>
          <a:p>
            <a:r>
              <a:rPr lang="en-IN" sz="2400" b="1" u="sng" dirty="0"/>
              <a:t>Project description:-</a:t>
            </a:r>
          </a:p>
          <a:p>
            <a:endParaRPr lang="en-IN" dirty="0"/>
          </a:p>
          <a:p>
            <a:r>
              <a:rPr lang="en-US" b="1" dirty="0"/>
              <a:t>Seasonal Agriculture Performance Analysis</a:t>
            </a:r>
            <a:r>
              <a:rPr lang="en-US" dirty="0"/>
              <a:t> is a data analytics project that analyzes agricultural performance across different seasons, crops, and regions. The project examines factors such as </a:t>
            </a:r>
            <a:r>
              <a:rPr lang="en-US" b="1" dirty="0"/>
              <a:t>rainfall, temperature, soil conditions, irrigation, fertilizer usage, yield, production, revenue, cost, and profit</a:t>
            </a:r>
            <a:r>
              <a:rPr lang="en-US" dirty="0"/>
              <a:t> to identify seasonal patterns and performance differences.</a:t>
            </a:r>
          </a:p>
          <a:p>
            <a:endParaRPr lang="en-US" dirty="0"/>
          </a:p>
          <a:p>
            <a:r>
              <a:rPr lang="en-US" dirty="0"/>
              <a:t>Using </a:t>
            </a:r>
            <a:r>
              <a:rPr lang="en-US" b="1" dirty="0"/>
              <a:t>Python, Pandas, NumPy, Matplotlib, Seaborn, and statistical analysis</a:t>
            </a:r>
            <a:r>
              <a:rPr lang="en-US" dirty="0"/>
              <a:t>, the project converts raw agricultural data into meaningful insights. The analysis helps understand how environmental and resource-related factors are associated with agricultural outcomes and provides </a:t>
            </a:r>
            <a:r>
              <a:rPr lang="en-US" b="1" dirty="0"/>
              <a:t>data-driven recommendations for better seasonal planning and resource management</a:t>
            </a:r>
            <a:r>
              <a:rPr lang="en-US" dirty="0"/>
              <a:t>.</a:t>
            </a:r>
            <a:endParaRPr lang="en-IN" dirty="0"/>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Rectangle 3">
            <a:extLst>
              <a:ext uri="{FF2B5EF4-FFF2-40B4-BE49-F238E27FC236}">
                <a16:creationId xmlns:a16="http://schemas.microsoft.com/office/drawing/2014/main" id="{D068E454-884B-7B67-7B5E-40BFDAF636E2}"/>
              </a:ext>
            </a:extLst>
          </p:cNvPr>
          <p:cNvSpPr>
            <a:spLocks noGrp="1" noChangeArrowheads="1"/>
          </p:cNvSpPr>
          <p:nvPr>
            <p:ph type="body" sz="quarter" idx="12"/>
          </p:nvPr>
        </p:nvSpPr>
        <p:spPr bwMode="auto">
          <a:xfrm>
            <a:off x="358588" y="1835207"/>
            <a:ext cx="8991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Farmers</a:t>
            </a:r>
            <a:r>
              <a:rPr kumimoji="0" lang="en-US" altLang="en-US" sz="1800" b="0" i="0" u="none" strike="noStrike" cap="none" normalizeH="0" baseline="0" dirty="0">
                <a:ln>
                  <a:noFill/>
                </a:ln>
                <a:solidFill>
                  <a:schemeClr val="tx1"/>
                </a:solidFill>
                <a:effectLst/>
                <a:latin typeface="Arial" panose="020B0604020202020204" pitchFamily="34" charset="0"/>
              </a:rPr>
              <a:t> – To improve crop selection and seasonal planning.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Departments</a:t>
            </a:r>
            <a:r>
              <a:rPr kumimoji="0" lang="en-US" altLang="en-US" sz="1800" b="0" i="0" u="none" strike="noStrike" cap="none" normalizeH="0" baseline="0" dirty="0">
                <a:ln>
                  <a:noFill/>
                </a:ln>
                <a:solidFill>
                  <a:schemeClr val="tx1"/>
                </a:solidFill>
                <a:effectLst/>
                <a:latin typeface="Arial" panose="020B0604020202020204" pitchFamily="34" charset="0"/>
              </a:rPr>
              <a:t> – To monitor agricultural performance across seasons and regions.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Agribusinesses &amp; Cooperatives</a:t>
            </a:r>
            <a:r>
              <a:rPr kumimoji="0" lang="en-US" altLang="en-US" sz="1800" b="0" i="0" u="none" strike="noStrike" cap="none" normalizeH="0" baseline="0" dirty="0">
                <a:ln>
                  <a:noFill/>
                </a:ln>
                <a:solidFill>
                  <a:schemeClr val="tx1"/>
                </a:solidFill>
                <a:effectLst/>
                <a:latin typeface="Arial" panose="020B0604020202020204" pitchFamily="34" charset="0"/>
              </a:rPr>
              <a:t> – To understand crop production, resource usage, and profitability.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Irrigation &amp; Resource Managers</a:t>
            </a:r>
            <a:r>
              <a:rPr kumimoji="0" lang="en-US" altLang="en-US" sz="1800" b="0" i="0" u="none" strike="noStrike" cap="none" normalizeH="0" baseline="0" dirty="0">
                <a:ln>
                  <a:noFill/>
                </a:ln>
                <a:solidFill>
                  <a:schemeClr val="tx1"/>
                </a:solidFill>
                <a:effectLst/>
                <a:latin typeface="Arial" panose="020B0604020202020204" pitchFamily="34" charset="0"/>
              </a:rPr>
              <a:t> – To improve water usage and irrigation efficiency.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Researchers &amp; Analysts</a:t>
            </a:r>
            <a:r>
              <a:rPr kumimoji="0" lang="en-US" altLang="en-US" sz="1800" b="0" i="0" u="none" strike="noStrike" cap="none" normalizeH="0" baseline="0" dirty="0">
                <a:ln>
                  <a:noFill/>
                </a:ln>
                <a:solidFill>
                  <a:schemeClr val="tx1"/>
                </a:solidFill>
                <a:effectLst/>
                <a:latin typeface="Arial" panose="020B0604020202020204" pitchFamily="34" charset="0"/>
              </a:rPr>
              <a:t> – To study seasonal trends and agricultural patterns.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Policy Makers</a:t>
            </a:r>
            <a:r>
              <a:rPr kumimoji="0" lang="en-US" altLang="en-US" sz="1800" b="0" i="0" u="none" strike="noStrike" cap="none" normalizeH="0" baseline="0" dirty="0">
                <a:ln>
                  <a:noFill/>
                </a:ln>
                <a:solidFill>
                  <a:schemeClr val="tx1"/>
                </a:solidFill>
                <a:effectLst/>
                <a:latin typeface="Arial" panose="020B0604020202020204" pitchFamily="34" charset="0"/>
              </a:rPr>
              <a:t> – To support data-driven agricultural planning and decision-making.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11" name="TextBox 10">
            <a:extLst>
              <a:ext uri="{FF2B5EF4-FFF2-40B4-BE49-F238E27FC236}">
                <a16:creationId xmlns:a16="http://schemas.microsoft.com/office/drawing/2014/main" id="{A247D007-7307-6961-6519-D7EAD88B1E53}"/>
              </a:ext>
            </a:extLst>
          </p:cNvPr>
          <p:cNvSpPr txBox="1"/>
          <p:nvPr/>
        </p:nvSpPr>
        <p:spPr>
          <a:xfrm>
            <a:off x="467359" y="439271"/>
            <a:ext cx="8667676" cy="1384995"/>
          </a:xfrm>
          <a:prstGeom prst="rect">
            <a:avLst/>
          </a:prstGeom>
          <a:noFill/>
        </p:spPr>
        <p:txBody>
          <a:bodyPr wrap="square" rtlCol="0">
            <a:spAutoFit/>
          </a:bodyPr>
          <a:lstStyle/>
          <a:p>
            <a:r>
              <a:rPr lang="en-IN" sz="3600" dirty="0"/>
              <a:t>Technology Used:-</a:t>
            </a:r>
          </a:p>
          <a:p>
            <a:r>
              <a:rPr lang="en-IN" sz="2400" dirty="0"/>
              <a:t> </a:t>
            </a:r>
          </a:p>
          <a:p>
            <a:endParaRPr lang="en-IN" sz="2400" dirty="0"/>
          </a:p>
        </p:txBody>
      </p:sp>
      <p:sp>
        <p:nvSpPr>
          <p:cNvPr id="13" name="Rectangle 4">
            <a:extLst>
              <a:ext uri="{FF2B5EF4-FFF2-40B4-BE49-F238E27FC236}">
                <a16:creationId xmlns:a16="http://schemas.microsoft.com/office/drawing/2014/main" id="{8C8D66EF-1E25-D52F-2F66-4D82717A7FED}"/>
              </a:ext>
            </a:extLst>
          </p:cNvPr>
          <p:cNvSpPr>
            <a:spLocks noChangeArrowheads="1"/>
          </p:cNvSpPr>
          <p:nvPr/>
        </p:nvSpPr>
        <p:spPr bwMode="auto">
          <a:xfrm rot="10800000" flipV="1">
            <a:off x="467359" y="1397675"/>
            <a:ext cx="874835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 Data analysis and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Pandas</a:t>
            </a:r>
            <a:r>
              <a:rPr kumimoji="0" lang="en-US" altLang="en-US" sz="1800" b="0" i="0" u="none" strike="noStrike" cap="none" normalizeH="0" baseline="0" dirty="0">
                <a:ln>
                  <a:noFill/>
                </a:ln>
                <a:solidFill>
                  <a:schemeClr val="tx1"/>
                </a:solidFill>
                <a:effectLst/>
                <a:latin typeface="Arial" panose="020B0604020202020204" pitchFamily="34" charset="0"/>
              </a:rPr>
              <a:t> – Data cleaning, manipulation, and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NumPy</a:t>
            </a:r>
            <a:r>
              <a:rPr kumimoji="0" lang="en-US" altLang="en-US" sz="1800" b="0" i="0" u="none" strike="noStrike" cap="none" normalizeH="0" baseline="0" dirty="0">
                <a:ln>
                  <a:noFill/>
                </a:ln>
                <a:solidFill>
                  <a:schemeClr val="tx1"/>
                </a:solidFill>
                <a:effectLst/>
                <a:latin typeface="Arial" panose="020B0604020202020204" pitchFamily="34" charset="0"/>
              </a:rPr>
              <a:t> – Numerical computations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Matplotlib</a:t>
            </a:r>
            <a:r>
              <a:rPr kumimoji="0" lang="en-US" altLang="en-US" sz="1800" b="0" i="0" u="none" strike="noStrike" cap="none" normalizeH="0" baseline="0" dirty="0">
                <a:ln>
                  <a:noFill/>
                </a:ln>
                <a:solidFill>
                  <a:schemeClr val="tx1"/>
                </a:solidFill>
                <a:effectLst/>
                <a:latin typeface="Arial" panose="020B0604020202020204" pitchFamily="34" charset="0"/>
              </a:rPr>
              <a:t> – Data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Seaborn</a:t>
            </a:r>
            <a:r>
              <a:rPr kumimoji="0" lang="en-US" altLang="en-US" sz="1800" b="0" i="0" u="none" strike="noStrike" cap="none" normalizeH="0" baseline="0" dirty="0">
                <a:ln>
                  <a:noFill/>
                </a:ln>
                <a:solidFill>
                  <a:schemeClr val="tx1"/>
                </a:solidFill>
                <a:effectLst/>
                <a:latin typeface="Arial" panose="020B0604020202020204" pitchFamily="34" charset="0"/>
              </a:rPr>
              <a:t> – Statistical and advanced visualizations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SciPy</a:t>
            </a:r>
            <a:r>
              <a:rPr kumimoji="0" lang="en-US" altLang="en-US" sz="1800" b="0" i="0" u="none" strike="noStrike" cap="none" normalizeH="0" baseline="0" dirty="0">
                <a:ln>
                  <a:noFill/>
                </a:ln>
                <a:solidFill>
                  <a:schemeClr val="tx1"/>
                </a:solidFill>
                <a:effectLst/>
                <a:latin typeface="Arial" panose="020B0604020202020204" pitchFamily="34" charset="0"/>
              </a:rPr>
              <a:t> – Statistical analysis and ANOVA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Jupyter</a:t>
            </a:r>
            <a:r>
              <a:rPr kumimoji="0" lang="en-US" altLang="en-US" sz="1800" b="1" i="0" u="none" strike="noStrike" cap="none" normalizeH="0" baseline="0" dirty="0">
                <a:ln>
                  <a:noFill/>
                </a:ln>
                <a:solidFill>
                  <a:schemeClr val="tx1"/>
                </a:solidFill>
                <a:effectLst/>
                <a:latin typeface="Arial" panose="020B0604020202020204" pitchFamily="34" charset="0"/>
              </a:rPr>
              <a:t> Notebook</a:t>
            </a:r>
            <a:r>
              <a:rPr kumimoji="0" lang="en-US" altLang="en-US" sz="1800" b="0" i="0" u="none" strike="noStrike" cap="none" normalizeH="0" baseline="0" dirty="0">
                <a:ln>
                  <a:noFill/>
                </a:ln>
                <a:solidFill>
                  <a:schemeClr val="tx1"/>
                </a:solidFill>
                <a:effectLst/>
                <a:latin typeface="Arial" panose="020B0604020202020204" pitchFamily="34" charset="0"/>
              </a:rPr>
              <a:t> – Development and analysis environment </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42047" y="193040"/>
            <a:ext cx="8803341" cy="5813313"/>
          </a:xfrm>
        </p:spPr>
        <p:txBody>
          <a:bodyPr>
            <a:normAutofit/>
          </a:bodyPr>
          <a:lstStyle/>
          <a:p>
            <a:pPr marL="0" indent="0">
              <a:buNone/>
            </a:pPr>
            <a:r>
              <a:rPr lang="en-IN" sz="2400" b="1" u="sng" dirty="0"/>
              <a:t>Data overview and Quality check :-</a:t>
            </a:r>
          </a:p>
          <a:p>
            <a:pPr marL="0" indent="0">
              <a:buNone/>
            </a:pPr>
            <a:endParaRPr lang="en-IN" sz="2400" dirty="0"/>
          </a:p>
        </p:txBody>
      </p:sp>
      <p:graphicFrame>
        <p:nvGraphicFramePr>
          <p:cNvPr id="6" name="Table 5">
            <a:extLst>
              <a:ext uri="{FF2B5EF4-FFF2-40B4-BE49-F238E27FC236}">
                <a16:creationId xmlns:a16="http://schemas.microsoft.com/office/drawing/2014/main" id="{8EC259E3-D0FD-C369-65B9-C23131C9230F}"/>
              </a:ext>
            </a:extLst>
          </p:cNvPr>
          <p:cNvGraphicFramePr>
            <a:graphicFrameLocks noGrp="1"/>
          </p:cNvGraphicFramePr>
          <p:nvPr>
            <p:extLst>
              <p:ext uri="{D42A27DB-BD31-4B8C-83A1-F6EECF244321}">
                <p14:modId xmlns:p14="http://schemas.microsoft.com/office/powerpoint/2010/main" val="2800418383"/>
              </p:ext>
            </p:extLst>
          </p:nvPr>
        </p:nvGraphicFramePr>
        <p:xfrm>
          <a:off x="322729" y="914400"/>
          <a:ext cx="8722659" cy="3291840"/>
        </p:xfrm>
        <a:graphic>
          <a:graphicData uri="http://schemas.openxmlformats.org/drawingml/2006/table">
            <a:tbl>
              <a:tblPr/>
              <a:tblGrid>
                <a:gridCol w="4360456">
                  <a:extLst>
                    <a:ext uri="{9D8B030D-6E8A-4147-A177-3AD203B41FA5}">
                      <a16:colId xmlns:a16="http://schemas.microsoft.com/office/drawing/2014/main" val="879868535"/>
                    </a:ext>
                  </a:extLst>
                </a:gridCol>
                <a:gridCol w="4362203">
                  <a:extLst>
                    <a:ext uri="{9D8B030D-6E8A-4147-A177-3AD203B41FA5}">
                      <a16:colId xmlns:a16="http://schemas.microsoft.com/office/drawing/2014/main" val="181192289"/>
                    </a:ext>
                  </a:extLst>
                </a:gridCol>
              </a:tblGrid>
              <a:tr h="352612">
                <a:tc>
                  <a:txBody>
                    <a:bodyPr/>
                    <a:lstStyle/>
                    <a:p>
                      <a:pPr>
                        <a:buNone/>
                      </a:pPr>
                      <a:r>
                        <a:rPr lang="en-IN" b="1" u="sng" dirty="0"/>
                        <a:t>Parameter</a:t>
                      </a:r>
                    </a:p>
                  </a:txBody>
                  <a:tcPr anchor="ctr">
                    <a:lnL>
                      <a:noFill/>
                    </a:lnL>
                    <a:lnR>
                      <a:noFill/>
                    </a:lnR>
                    <a:lnT>
                      <a:noFill/>
                    </a:lnT>
                    <a:lnB>
                      <a:noFill/>
                    </a:lnB>
                    <a:noFill/>
                  </a:tcPr>
                </a:tc>
                <a:tc>
                  <a:txBody>
                    <a:bodyPr/>
                    <a:lstStyle/>
                    <a:p>
                      <a:pPr algn="r">
                        <a:buNone/>
                      </a:pPr>
                      <a:r>
                        <a:rPr lang="en-IN" b="1" u="sng" dirty="0"/>
                        <a:t>Result</a:t>
                      </a:r>
                    </a:p>
                  </a:txBody>
                  <a:tcPr anchor="ctr">
                    <a:lnL>
                      <a:noFill/>
                    </a:lnL>
                    <a:lnR>
                      <a:noFill/>
                    </a:lnR>
                    <a:lnT>
                      <a:noFill/>
                    </a:lnT>
                    <a:lnB>
                      <a:noFill/>
                    </a:lnB>
                    <a:noFill/>
                  </a:tcPr>
                </a:tc>
                <a:extLst>
                  <a:ext uri="{0D108BD9-81ED-4DB2-BD59-A6C34878D82A}">
                    <a16:rowId xmlns:a16="http://schemas.microsoft.com/office/drawing/2014/main" val="1695270223"/>
                  </a:ext>
                </a:extLst>
              </a:tr>
              <a:tr h="352612">
                <a:tc>
                  <a:txBody>
                    <a:bodyPr/>
                    <a:lstStyle/>
                    <a:p>
                      <a:pPr>
                        <a:buNone/>
                      </a:pPr>
                      <a:r>
                        <a:rPr lang="en-IN" b="1" dirty="0"/>
                        <a:t>Total Rows</a:t>
                      </a:r>
                      <a:endParaRPr lang="en-IN" dirty="0"/>
                    </a:p>
                  </a:txBody>
                  <a:tcPr anchor="ctr">
                    <a:lnL>
                      <a:noFill/>
                    </a:lnL>
                    <a:lnR>
                      <a:noFill/>
                    </a:lnR>
                    <a:lnT>
                      <a:noFill/>
                    </a:lnT>
                    <a:lnB>
                      <a:noFill/>
                    </a:lnB>
                    <a:noFill/>
                  </a:tcPr>
                </a:tc>
                <a:tc>
                  <a:txBody>
                    <a:bodyPr/>
                    <a:lstStyle/>
                    <a:p>
                      <a:pPr algn="r">
                        <a:buNone/>
                      </a:pPr>
                      <a:r>
                        <a:rPr lang="en-IN" b="1"/>
                        <a:t>4,000</a:t>
                      </a:r>
                      <a:endParaRPr lang="en-IN"/>
                    </a:p>
                  </a:txBody>
                  <a:tcPr anchor="ctr">
                    <a:lnL>
                      <a:noFill/>
                    </a:lnL>
                    <a:lnR>
                      <a:noFill/>
                    </a:lnR>
                    <a:lnT>
                      <a:noFill/>
                    </a:lnT>
                    <a:lnB>
                      <a:noFill/>
                    </a:lnB>
                    <a:noFill/>
                  </a:tcPr>
                </a:tc>
                <a:extLst>
                  <a:ext uri="{0D108BD9-81ED-4DB2-BD59-A6C34878D82A}">
                    <a16:rowId xmlns:a16="http://schemas.microsoft.com/office/drawing/2014/main" val="2047370386"/>
                  </a:ext>
                </a:extLst>
              </a:tr>
              <a:tr h="352612">
                <a:tc>
                  <a:txBody>
                    <a:bodyPr/>
                    <a:lstStyle/>
                    <a:p>
                      <a:pPr>
                        <a:buNone/>
                      </a:pPr>
                      <a:r>
                        <a:rPr lang="en-IN" b="1"/>
                        <a:t>Total Columns</a:t>
                      </a:r>
                      <a:endParaRPr lang="en-IN"/>
                    </a:p>
                  </a:txBody>
                  <a:tcPr anchor="ctr">
                    <a:lnL>
                      <a:noFill/>
                    </a:lnL>
                    <a:lnR>
                      <a:noFill/>
                    </a:lnR>
                    <a:lnT>
                      <a:noFill/>
                    </a:lnT>
                    <a:lnB>
                      <a:noFill/>
                    </a:lnB>
                    <a:noFill/>
                  </a:tcPr>
                </a:tc>
                <a:tc>
                  <a:txBody>
                    <a:bodyPr/>
                    <a:lstStyle/>
                    <a:p>
                      <a:pPr algn="r">
                        <a:buNone/>
                      </a:pPr>
                      <a:r>
                        <a:rPr lang="en-IN" b="1"/>
                        <a:t>28</a:t>
                      </a:r>
                      <a:endParaRPr lang="en-IN"/>
                    </a:p>
                  </a:txBody>
                  <a:tcPr anchor="ctr">
                    <a:lnL>
                      <a:noFill/>
                    </a:lnL>
                    <a:lnR>
                      <a:noFill/>
                    </a:lnR>
                    <a:lnT>
                      <a:noFill/>
                    </a:lnT>
                    <a:lnB>
                      <a:noFill/>
                    </a:lnB>
                    <a:noFill/>
                  </a:tcPr>
                </a:tc>
                <a:extLst>
                  <a:ext uri="{0D108BD9-81ED-4DB2-BD59-A6C34878D82A}">
                    <a16:rowId xmlns:a16="http://schemas.microsoft.com/office/drawing/2014/main" val="1159975503"/>
                  </a:ext>
                </a:extLst>
              </a:tr>
              <a:tr h="352612">
                <a:tc>
                  <a:txBody>
                    <a:bodyPr/>
                    <a:lstStyle/>
                    <a:p>
                      <a:pPr>
                        <a:buNone/>
                      </a:pPr>
                      <a:r>
                        <a:rPr lang="en-IN" b="1"/>
                        <a:t>Missing Values</a:t>
                      </a:r>
                      <a:endParaRPr lang="en-IN"/>
                    </a:p>
                  </a:txBody>
                  <a:tcPr anchor="ctr">
                    <a:lnL>
                      <a:noFill/>
                    </a:lnL>
                    <a:lnR>
                      <a:noFill/>
                    </a:lnR>
                    <a:lnT>
                      <a:noFill/>
                    </a:lnT>
                    <a:lnB>
                      <a:noFill/>
                    </a:lnB>
                    <a:noFill/>
                  </a:tcPr>
                </a:tc>
                <a:tc>
                  <a:txBody>
                    <a:bodyPr/>
                    <a:lstStyle/>
                    <a:p>
                      <a:pPr algn="r">
                        <a:buNone/>
                      </a:pPr>
                      <a:r>
                        <a:rPr lang="en-IN" b="1"/>
                        <a:t>120</a:t>
                      </a:r>
                      <a:endParaRPr lang="en-IN"/>
                    </a:p>
                  </a:txBody>
                  <a:tcPr anchor="ctr">
                    <a:lnL>
                      <a:noFill/>
                    </a:lnL>
                    <a:lnR>
                      <a:noFill/>
                    </a:lnR>
                    <a:lnT>
                      <a:noFill/>
                    </a:lnT>
                    <a:lnB>
                      <a:noFill/>
                    </a:lnB>
                    <a:noFill/>
                  </a:tcPr>
                </a:tc>
                <a:extLst>
                  <a:ext uri="{0D108BD9-81ED-4DB2-BD59-A6C34878D82A}">
                    <a16:rowId xmlns:a16="http://schemas.microsoft.com/office/drawing/2014/main" val="2382434606"/>
                  </a:ext>
                </a:extLst>
              </a:tr>
              <a:tr h="352612">
                <a:tc>
                  <a:txBody>
                    <a:bodyPr/>
                    <a:lstStyle/>
                    <a:p>
                      <a:pPr>
                        <a:buNone/>
                      </a:pPr>
                      <a:r>
                        <a:rPr lang="en-IN" b="1"/>
                        <a:t>Columns with Missing Values</a:t>
                      </a:r>
                      <a:endParaRPr lang="en-IN"/>
                    </a:p>
                  </a:txBody>
                  <a:tcPr anchor="ctr">
                    <a:lnL>
                      <a:noFill/>
                    </a:lnL>
                    <a:lnR>
                      <a:noFill/>
                    </a:lnR>
                    <a:lnT>
                      <a:noFill/>
                    </a:lnT>
                    <a:lnB>
                      <a:noFill/>
                    </a:lnB>
                    <a:noFill/>
                  </a:tcPr>
                </a:tc>
                <a:tc>
                  <a:txBody>
                    <a:bodyPr/>
                    <a:lstStyle/>
                    <a:p>
                      <a:pPr algn="r">
                        <a:buNone/>
                      </a:pPr>
                      <a:r>
                        <a:rPr lang="en-IN" b="1"/>
                        <a:t>4</a:t>
                      </a:r>
                      <a:endParaRPr lang="en-IN"/>
                    </a:p>
                  </a:txBody>
                  <a:tcPr anchor="ctr">
                    <a:lnL>
                      <a:noFill/>
                    </a:lnL>
                    <a:lnR>
                      <a:noFill/>
                    </a:lnR>
                    <a:lnT>
                      <a:noFill/>
                    </a:lnT>
                    <a:lnB>
                      <a:noFill/>
                    </a:lnB>
                    <a:noFill/>
                  </a:tcPr>
                </a:tc>
                <a:extLst>
                  <a:ext uri="{0D108BD9-81ED-4DB2-BD59-A6C34878D82A}">
                    <a16:rowId xmlns:a16="http://schemas.microsoft.com/office/drawing/2014/main" val="3262303408"/>
                  </a:ext>
                </a:extLst>
              </a:tr>
              <a:tr h="352612">
                <a:tc>
                  <a:txBody>
                    <a:bodyPr/>
                    <a:lstStyle/>
                    <a:p>
                      <a:pPr>
                        <a:buNone/>
                      </a:pPr>
                      <a:r>
                        <a:rPr lang="en-IN" b="1"/>
                        <a:t>Duplicate Rows</a:t>
                      </a:r>
                      <a:endParaRPr lang="en-IN"/>
                    </a:p>
                  </a:txBody>
                  <a:tcPr anchor="ctr">
                    <a:lnL>
                      <a:noFill/>
                    </a:lnL>
                    <a:lnR>
                      <a:noFill/>
                    </a:lnR>
                    <a:lnT>
                      <a:noFill/>
                    </a:lnT>
                    <a:lnB>
                      <a:noFill/>
                    </a:lnB>
                    <a:noFill/>
                  </a:tcPr>
                </a:tc>
                <a:tc>
                  <a:txBody>
                    <a:bodyPr/>
                    <a:lstStyle/>
                    <a:p>
                      <a:pPr algn="r">
                        <a:buNone/>
                      </a:pPr>
                      <a:r>
                        <a:rPr lang="en-IN" b="1"/>
                        <a:t>0</a:t>
                      </a:r>
                      <a:endParaRPr lang="en-IN"/>
                    </a:p>
                  </a:txBody>
                  <a:tcPr anchor="ctr">
                    <a:lnL>
                      <a:noFill/>
                    </a:lnL>
                    <a:lnR>
                      <a:noFill/>
                    </a:lnR>
                    <a:lnT>
                      <a:noFill/>
                    </a:lnT>
                    <a:lnB>
                      <a:noFill/>
                    </a:lnB>
                    <a:noFill/>
                  </a:tcPr>
                </a:tc>
                <a:extLst>
                  <a:ext uri="{0D108BD9-81ED-4DB2-BD59-A6C34878D82A}">
                    <a16:rowId xmlns:a16="http://schemas.microsoft.com/office/drawing/2014/main" val="872954696"/>
                  </a:ext>
                </a:extLst>
              </a:tr>
              <a:tr h="352612">
                <a:tc>
                  <a:txBody>
                    <a:bodyPr/>
                    <a:lstStyle/>
                    <a:p>
                      <a:pPr>
                        <a:buNone/>
                      </a:pPr>
                      <a:r>
                        <a:rPr lang="en-IN" b="1"/>
                        <a:t>Seasons</a:t>
                      </a:r>
                      <a:endParaRPr lang="en-IN"/>
                    </a:p>
                  </a:txBody>
                  <a:tcPr anchor="ctr">
                    <a:lnL>
                      <a:noFill/>
                    </a:lnL>
                    <a:lnR>
                      <a:noFill/>
                    </a:lnR>
                    <a:lnT>
                      <a:noFill/>
                    </a:lnT>
                    <a:lnB>
                      <a:noFill/>
                    </a:lnB>
                    <a:noFill/>
                  </a:tcPr>
                </a:tc>
                <a:tc>
                  <a:txBody>
                    <a:bodyPr/>
                    <a:lstStyle/>
                    <a:p>
                      <a:pPr algn="r">
                        <a:buNone/>
                      </a:pPr>
                      <a:r>
                        <a:rPr lang="en-IN" b="1"/>
                        <a:t>3</a:t>
                      </a:r>
                      <a:endParaRPr lang="en-IN"/>
                    </a:p>
                  </a:txBody>
                  <a:tcPr anchor="ctr">
                    <a:lnL>
                      <a:noFill/>
                    </a:lnL>
                    <a:lnR>
                      <a:noFill/>
                    </a:lnR>
                    <a:lnT>
                      <a:noFill/>
                    </a:lnT>
                    <a:lnB>
                      <a:noFill/>
                    </a:lnB>
                    <a:noFill/>
                  </a:tcPr>
                </a:tc>
                <a:extLst>
                  <a:ext uri="{0D108BD9-81ED-4DB2-BD59-A6C34878D82A}">
                    <a16:rowId xmlns:a16="http://schemas.microsoft.com/office/drawing/2014/main" val="2434598696"/>
                  </a:ext>
                </a:extLst>
              </a:tr>
              <a:tr h="352612">
                <a:tc>
                  <a:txBody>
                    <a:bodyPr/>
                    <a:lstStyle/>
                    <a:p>
                      <a:pPr>
                        <a:buNone/>
                      </a:pPr>
                      <a:r>
                        <a:rPr lang="en-IN" b="1"/>
                        <a:t>Crops</a:t>
                      </a:r>
                      <a:endParaRPr lang="en-IN"/>
                    </a:p>
                  </a:txBody>
                  <a:tcPr anchor="ctr">
                    <a:lnL>
                      <a:noFill/>
                    </a:lnL>
                    <a:lnR>
                      <a:noFill/>
                    </a:lnR>
                    <a:lnT>
                      <a:noFill/>
                    </a:lnT>
                    <a:lnB>
                      <a:noFill/>
                    </a:lnB>
                    <a:noFill/>
                  </a:tcPr>
                </a:tc>
                <a:tc>
                  <a:txBody>
                    <a:bodyPr/>
                    <a:lstStyle/>
                    <a:p>
                      <a:pPr algn="r">
                        <a:buNone/>
                      </a:pPr>
                      <a:r>
                        <a:rPr lang="en-IN" b="1"/>
                        <a:t>8</a:t>
                      </a:r>
                      <a:endParaRPr lang="en-IN"/>
                    </a:p>
                  </a:txBody>
                  <a:tcPr anchor="ctr">
                    <a:lnL>
                      <a:noFill/>
                    </a:lnL>
                    <a:lnR>
                      <a:noFill/>
                    </a:lnR>
                    <a:lnT>
                      <a:noFill/>
                    </a:lnT>
                    <a:lnB>
                      <a:noFill/>
                    </a:lnB>
                    <a:noFill/>
                  </a:tcPr>
                </a:tc>
                <a:extLst>
                  <a:ext uri="{0D108BD9-81ED-4DB2-BD59-A6C34878D82A}">
                    <a16:rowId xmlns:a16="http://schemas.microsoft.com/office/drawing/2014/main" val="3621566571"/>
                  </a:ext>
                </a:extLst>
              </a:tr>
              <a:tr h="352612">
                <a:tc>
                  <a:txBody>
                    <a:bodyPr/>
                    <a:lstStyle/>
                    <a:p>
                      <a:pPr>
                        <a:buNone/>
                      </a:pPr>
                      <a:r>
                        <a:rPr lang="en-IN" b="1"/>
                        <a:t>States</a:t>
                      </a:r>
                      <a:endParaRPr lang="en-IN"/>
                    </a:p>
                  </a:txBody>
                  <a:tcPr anchor="ctr">
                    <a:lnL>
                      <a:noFill/>
                    </a:lnL>
                    <a:lnR>
                      <a:noFill/>
                    </a:lnR>
                    <a:lnT>
                      <a:noFill/>
                    </a:lnT>
                    <a:lnB>
                      <a:noFill/>
                    </a:lnB>
                    <a:noFill/>
                  </a:tcPr>
                </a:tc>
                <a:tc>
                  <a:txBody>
                    <a:bodyPr/>
                    <a:lstStyle/>
                    <a:p>
                      <a:pPr algn="r">
                        <a:buNone/>
                      </a:pPr>
                      <a:r>
                        <a:rPr lang="en-IN" b="1" dirty="0"/>
                        <a:t>8</a:t>
                      </a:r>
                    </a:p>
                  </a:txBody>
                  <a:tcPr anchor="ctr">
                    <a:lnL>
                      <a:noFill/>
                    </a:lnL>
                    <a:lnR>
                      <a:noFill/>
                    </a:lnR>
                    <a:lnT>
                      <a:noFill/>
                    </a:lnT>
                    <a:lnB>
                      <a:noFill/>
                    </a:lnB>
                    <a:noFill/>
                  </a:tcPr>
                </a:tc>
                <a:extLst>
                  <a:ext uri="{0D108BD9-81ED-4DB2-BD59-A6C34878D82A}">
                    <a16:rowId xmlns:a16="http://schemas.microsoft.com/office/drawing/2014/main" val="3182082453"/>
                  </a:ext>
                </a:extLst>
              </a:tr>
            </a:tbl>
          </a:graphicData>
        </a:graphic>
      </p:graphicFrame>
      <p:sp>
        <p:nvSpPr>
          <p:cNvPr id="9" name="TextBox 8">
            <a:extLst>
              <a:ext uri="{FF2B5EF4-FFF2-40B4-BE49-F238E27FC236}">
                <a16:creationId xmlns:a16="http://schemas.microsoft.com/office/drawing/2014/main" id="{24DF9ACD-03DD-F824-5150-829C7B45D5B6}"/>
              </a:ext>
            </a:extLst>
          </p:cNvPr>
          <p:cNvSpPr txBox="1"/>
          <p:nvPr/>
        </p:nvSpPr>
        <p:spPr>
          <a:xfrm>
            <a:off x="320982" y="4206240"/>
            <a:ext cx="5814490" cy="1477328"/>
          </a:xfrm>
          <a:prstGeom prst="rect">
            <a:avLst/>
          </a:prstGeom>
          <a:noFill/>
        </p:spPr>
        <p:txBody>
          <a:bodyPr wrap="square" rtlCol="0">
            <a:spAutoFit/>
          </a:bodyPr>
          <a:lstStyle/>
          <a:p>
            <a:r>
              <a:rPr lang="en-IN" b="1" dirty="0"/>
              <a:t>Missing Values Detail:</a:t>
            </a:r>
            <a:endParaRPr lang="en-IN" dirty="0"/>
          </a:p>
          <a:p>
            <a:r>
              <a:rPr lang="en-IN" dirty="0" err="1"/>
              <a:t>Rainfall_mm</a:t>
            </a:r>
            <a:r>
              <a:rPr lang="en-IN" dirty="0"/>
              <a:t> → </a:t>
            </a:r>
            <a:r>
              <a:rPr lang="en-IN" b="1" dirty="0"/>
              <a:t>48</a:t>
            </a:r>
            <a:r>
              <a:rPr lang="en-IN" dirty="0"/>
              <a:t> </a:t>
            </a:r>
          </a:p>
          <a:p>
            <a:r>
              <a:rPr lang="en-IN" dirty="0" err="1"/>
              <a:t>Soil_Moisture_pct</a:t>
            </a:r>
            <a:r>
              <a:rPr lang="en-IN" dirty="0"/>
              <a:t> → </a:t>
            </a:r>
            <a:r>
              <a:rPr lang="en-IN" b="1" dirty="0"/>
              <a:t>40</a:t>
            </a:r>
            <a:r>
              <a:rPr lang="en-IN" dirty="0"/>
              <a:t> </a:t>
            </a:r>
          </a:p>
          <a:p>
            <a:r>
              <a:rPr lang="en-IN" dirty="0" err="1"/>
              <a:t>Yield_Tonnes_Ha</a:t>
            </a:r>
            <a:r>
              <a:rPr lang="en-IN" dirty="0"/>
              <a:t> → </a:t>
            </a:r>
            <a:r>
              <a:rPr lang="en-IN" b="1" dirty="0"/>
              <a:t>32</a:t>
            </a:r>
            <a:endParaRPr lang="en-IN" dirty="0"/>
          </a:p>
          <a:p>
            <a:endParaRPr lang="en-IN" dirty="0"/>
          </a:p>
        </p:txBody>
      </p:sp>
      <p:sp>
        <p:nvSpPr>
          <p:cNvPr id="12" name="TextBox 11">
            <a:extLst>
              <a:ext uri="{FF2B5EF4-FFF2-40B4-BE49-F238E27FC236}">
                <a16:creationId xmlns:a16="http://schemas.microsoft.com/office/drawing/2014/main" id="{47CCB1D7-CE2C-B4BB-F9B6-1F9C1C4EA136}"/>
              </a:ext>
            </a:extLst>
          </p:cNvPr>
          <p:cNvSpPr txBox="1"/>
          <p:nvPr/>
        </p:nvSpPr>
        <p:spPr>
          <a:xfrm>
            <a:off x="3228227" y="5166995"/>
            <a:ext cx="5885329" cy="1200329"/>
          </a:xfrm>
          <a:prstGeom prst="rect">
            <a:avLst/>
          </a:prstGeom>
          <a:noFill/>
        </p:spPr>
        <p:txBody>
          <a:bodyPr wrap="square" rtlCol="0">
            <a:spAutoFit/>
          </a:bodyPr>
          <a:lstStyle/>
          <a:p>
            <a:r>
              <a:rPr lang="en-IN" b="1" u="sng" dirty="0"/>
              <a:t>Conclusion</a:t>
            </a:r>
            <a:r>
              <a:rPr lang="en-IN" dirty="0"/>
              <a:t>:-</a:t>
            </a:r>
            <a:r>
              <a:rPr lang="en-US" dirty="0"/>
              <a:t>Data contained 4,000 records with 28 variables. A total of 120 missing values were identified, while no duplicate records were found. The data was cleaned and prepared before further analysis.</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4472803-1E08-1C17-EC47-8E70898E1047}"/>
              </a:ext>
            </a:extLst>
          </p:cNvPr>
          <p:cNvSpPr txBox="1"/>
          <p:nvPr/>
        </p:nvSpPr>
        <p:spPr>
          <a:xfrm>
            <a:off x="320982" y="779928"/>
            <a:ext cx="8814053" cy="830997"/>
          </a:xfrm>
          <a:prstGeom prst="rect">
            <a:avLst/>
          </a:prstGeom>
          <a:noFill/>
        </p:spPr>
        <p:txBody>
          <a:bodyPr wrap="square" rtlCol="0">
            <a:spAutoFit/>
          </a:bodyPr>
          <a:lstStyle/>
          <a:p>
            <a:r>
              <a:rPr lang="en-IN" sz="2400" b="1" u="sng" dirty="0"/>
              <a:t>RESULTS</a:t>
            </a:r>
            <a:r>
              <a:rPr lang="en-IN" sz="2400" b="1" dirty="0"/>
              <a:t>:-</a:t>
            </a:r>
            <a:r>
              <a:rPr lang="en-IN" sz="2800" b="1" dirty="0"/>
              <a:t>Seasonal performance and pattern</a:t>
            </a:r>
          </a:p>
          <a:p>
            <a:endParaRPr lang="en-IN" sz="2000" b="1" dirty="0"/>
          </a:p>
        </p:txBody>
      </p:sp>
      <p:pic>
        <p:nvPicPr>
          <p:cNvPr id="10" name="Picture 9">
            <a:extLst>
              <a:ext uri="{FF2B5EF4-FFF2-40B4-BE49-F238E27FC236}">
                <a16:creationId xmlns:a16="http://schemas.microsoft.com/office/drawing/2014/main" id="{7E29B5F6-CDED-D75E-EC33-1D484DD9556E}"/>
              </a:ext>
            </a:extLst>
          </p:cNvPr>
          <p:cNvPicPr>
            <a:picLocks noChangeAspect="1"/>
          </p:cNvPicPr>
          <p:nvPr/>
        </p:nvPicPr>
        <p:blipFill>
          <a:blip r:embed="rId3"/>
          <a:stretch>
            <a:fillRect/>
          </a:stretch>
        </p:blipFill>
        <p:spPr>
          <a:xfrm>
            <a:off x="461610" y="1349430"/>
            <a:ext cx="3255247" cy="1187582"/>
          </a:xfrm>
          <a:prstGeom prst="rect">
            <a:avLst/>
          </a:prstGeom>
        </p:spPr>
      </p:pic>
      <p:pic>
        <p:nvPicPr>
          <p:cNvPr id="12" name="Picture 11">
            <a:extLst>
              <a:ext uri="{FF2B5EF4-FFF2-40B4-BE49-F238E27FC236}">
                <a16:creationId xmlns:a16="http://schemas.microsoft.com/office/drawing/2014/main" id="{FE40BEAF-11E4-E13B-BDD8-E24D56F20412}"/>
              </a:ext>
            </a:extLst>
          </p:cNvPr>
          <p:cNvPicPr>
            <a:picLocks noChangeAspect="1"/>
          </p:cNvPicPr>
          <p:nvPr/>
        </p:nvPicPr>
        <p:blipFill>
          <a:blip r:embed="rId4"/>
          <a:stretch>
            <a:fillRect/>
          </a:stretch>
        </p:blipFill>
        <p:spPr>
          <a:xfrm>
            <a:off x="3857484" y="1195426"/>
            <a:ext cx="4797701" cy="2188750"/>
          </a:xfrm>
          <a:prstGeom prst="rect">
            <a:avLst/>
          </a:prstGeom>
        </p:spPr>
      </p:pic>
      <p:pic>
        <p:nvPicPr>
          <p:cNvPr id="14" name="Picture 13">
            <a:extLst>
              <a:ext uri="{FF2B5EF4-FFF2-40B4-BE49-F238E27FC236}">
                <a16:creationId xmlns:a16="http://schemas.microsoft.com/office/drawing/2014/main" id="{4C52C077-28FB-0F82-653F-C687D4F8E6ED}"/>
              </a:ext>
            </a:extLst>
          </p:cNvPr>
          <p:cNvPicPr>
            <a:picLocks noChangeAspect="1"/>
          </p:cNvPicPr>
          <p:nvPr/>
        </p:nvPicPr>
        <p:blipFill>
          <a:blip r:embed="rId5"/>
          <a:stretch>
            <a:fillRect/>
          </a:stretch>
        </p:blipFill>
        <p:spPr>
          <a:xfrm>
            <a:off x="437313" y="3863788"/>
            <a:ext cx="2899772" cy="1084730"/>
          </a:xfrm>
          <a:prstGeom prst="rect">
            <a:avLst/>
          </a:prstGeom>
        </p:spPr>
      </p:pic>
      <p:pic>
        <p:nvPicPr>
          <p:cNvPr id="16" name="Picture 15">
            <a:extLst>
              <a:ext uri="{FF2B5EF4-FFF2-40B4-BE49-F238E27FC236}">
                <a16:creationId xmlns:a16="http://schemas.microsoft.com/office/drawing/2014/main" id="{A0928DD3-6865-753A-FAA3-188A69326118}"/>
              </a:ext>
            </a:extLst>
          </p:cNvPr>
          <p:cNvPicPr>
            <a:picLocks noChangeAspect="1"/>
          </p:cNvPicPr>
          <p:nvPr/>
        </p:nvPicPr>
        <p:blipFill>
          <a:blip r:embed="rId6"/>
          <a:stretch>
            <a:fillRect/>
          </a:stretch>
        </p:blipFill>
        <p:spPr>
          <a:xfrm>
            <a:off x="3527310" y="3473825"/>
            <a:ext cx="5564933" cy="3397605"/>
          </a:xfrm>
          <a:prstGeom prst="rect">
            <a:avLst/>
          </a:prstGeom>
        </p:spPr>
      </p:pic>
      <p:sp>
        <p:nvSpPr>
          <p:cNvPr id="17" name="TextBox 16">
            <a:extLst>
              <a:ext uri="{FF2B5EF4-FFF2-40B4-BE49-F238E27FC236}">
                <a16:creationId xmlns:a16="http://schemas.microsoft.com/office/drawing/2014/main" id="{94027582-0FAB-C9DE-DCC5-BF2BEDA791E7}"/>
              </a:ext>
            </a:extLst>
          </p:cNvPr>
          <p:cNvSpPr txBox="1"/>
          <p:nvPr/>
        </p:nvSpPr>
        <p:spPr>
          <a:xfrm>
            <a:off x="320982" y="2454822"/>
            <a:ext cx="3343561" cy="923330"/>
          </a:xfrm>
          <a:prstGeom prst="rect">
            <a:avLst/>
          </a:prstGeom>
          <a:noFill/>
        </p:spPr>
        <p:txBody>
          <a:bodyPr wrap="square" rtlCol="0">
            <a:spAutoFit/>
          </a:bodyPr>
          <a:lstStyle/>
          <a:p>
            <a:r>
              <a:rPr lang="en-US" dirty="0"/>
              <a:t>Outcomes:-kharif showed the highest average yield, while Zaid showed the lowest</a:t>
            </a:r>
            <a:endParaRPr lang="en-IN" dirty="0"/>
          </a:p>
        </p:txBody>
      </p:sp>
      <p:sp>
        <p:nvSpPr>
          <p:cNvPr id="18" name="TextBox 17">
            <a:extLst>
              <a:ext uri="{FF2B5EF4-FFF2-40B4-BE49-F238E27FC236}">
                <a16:creationId xmlns:a16="http://schemas.microsoft.com/office/drawing/2014/main" id="{4797C3FE-D2E6-3E6B-579B-8EC290211FBE}"/>
              </a:ext>
            </a:extLst>
          </p:cNvPr>
          <p:cNvSpPr txBox="1"/>
          <p:nvPr/>
        </p:nvSpPr>
        <p:spPr>
          <a:xfrm>
            <a:off x="461610" y="5100918"/>
            <a:ext cx="2875475" cy="1200329"/>
          </a:xfrm>
          <a:prstGeom prst="rect">
            <a:avLst/>
          </a:prstGeom>
          <a:noFill/>
        </p:spPr>
        <p:txBody>
          <a:bodyPr wrap="square" rtlCol="0">
            <a:spAutoFit/>
          </a:bodyPr>
          <a:lstStyle/>
          <a:p>
            <a:r>
              <a:rPr lang="en-IN" dirty="0"/>
              <a:t>Outcomes:-</a:t>
            </a:r>
            <a:r>
              <a:rPr lang="en-US" dirty="0"/>
              <a:t>Kharif          performed better economically, while Zaid recorded an average loss.</a:t>
            </a: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a:extLst>
              <a:ext uri="{FF2B5EF4-FFF2-40B4-BE49-F238E27FC236}">
                <a16:creationId xmlns:a16="http://schemas.microsoft.com/office/drawing/2014/main" id="{AA5EE902-7BFA-1304-214C-F99F962204C5}"/>
              </a:ext>
            </a:extLst>
          </p:cNvPr>
          <p:cNvSpPr txBox="1"/>
          <p:nvPr/>
        </p:nvSpPr>
        <p:spPr>
          <a:xfrm>
            <a:off x="320982" y="193040"/>
            <a:ext cx="8957489" cy="1569660"/>
          </a:xfrm>
          <a:prstGeom prst="rect">
            <a:avLst/>
          </a:prstGeom>
          <a:noFill/>
        </p:spPr>
        <p:txBody>
          <a:bodyPr wrap="square" rtlCol="0">
            <a:spAutoFit/>
          </a:bodyPr>
          <a:lstStyle/>
          <a:p>
            <a:r>
              <a:rPr lang="en-IN" sz="2400" b="1" u="sng" dirty="0"/>
              <a:t>RESULT:-</a:t>
            </a:r>
          </a:p>
          <a:p>
            <a:endParaRPr lang="en-IN" sz="2400" b="1" u="sng" dirty="0"/>
          </a:p>
          <a:p>
            <a:r>
              <a:rPr lang="en-IN" sz="2400" dirty="0"/>
              <a:t>Average production by season</a:t>
            </a:r>
          </a:p>
          <a:p>
            <a:endParaRPr lang="en-IN" sz="2400" dirty="0"/>
          </a:p>
        </p:txBody>
      </p:sp>
      <p:pic>
        <p:nvPicPr>
          <p:cNvPr id="13" name="Picture 12">
            <a:extLst>
              <a:ext uri="{FF2B5EF4-FFF2-40B4-BE49-F238E27FC236}">
                <a16:creationId xmlns:a16="http://schemas.microsoft.com/office/drawing/2014/main" id="{031EB8DC-C14E-C7E5-E26E-81EC65B30113}"/>
              </a:ext>
            </a:extLst>
          </p:cNvPr>
          <p:cNvPicPr>
            <a:picLocks noChangeAspect="1"/>
          </p:cNvPicPr>
          <p:nvPr/>
        </p:nvPicPr>
        <p:blipFill>
          <a:blip r:embed="rId3"/>
          <a:stretch>
            <a:fillRect/>
          </a:stretch>
        </p:blipFill>
        <p:spPr>
          <a:xfrm>
            <a:off x="320982" y="1503260"/>
            <a:ext cx="3730598" cy="1239939"/>
          </a:xfrm>
          <a:prstGeom prst="rect">
            <a:avLst/>
          </a:prstGeom>
        </p:spPr>
      </p:pic>
      <p:pic>
        <p:nvPicPr>
          <p:cNvPr id="15" name="Picture 14">
            <a:extLst>
              <a:ext uri="{FF2B5EF4-FFF2-40B4-BE49-F238E27FC236}">
                <a16:creationId xmlns:a16="http://schemas.microsoft.com/office/drawing/2014/main" id="{E932FA7A-DE37-90E2-B5A1-E9EC5E22DB66}"/>
              </a:ext>
            </a:extLst>
          </p:cNvPr>
          <p:cNvPicPr>
            <a:picLocks noChangeAspect="1"/>
          </p:cNvPicPr>
          <p:nvPr/>
        </p:nvPicPr>
        <p:blipFill>
          <a:blip r:embed="rId4"/>
          <a:stretch>
            <a:fillRect/>
          </a:stretch>
        </p:blipFill>
        <p:spPr>
          <a:xfrm>
            <a:off x="4158989" y="1275371"/>
            <a:ext cx="4760893" cy="2660377"/>
          </a:xfrm>
          <a:prstGeom prst="rect">
            <a:avLst/>
          </a:prstGeom>
        </p:spPr>
      </p:pic>
      <p:sp>
        <p:nvSpPr>
          <p:cNvPr id="17" name="TextBox 16">
            <a:extLst>
              <a:ext uri="{FF2B5EF4-FFF2-40B4-BE49-F238E27FC236}">
                <a16:creationId xmlns:a16="http://schemas.microsoft.com/office/drawing/2014/main" id="{292CF194-0CF8-AC34-26C5-B2F59227BF96}"/>
              </a:ext>
            </a:extLst>
          </p:cNvPr>
          <p:cNvSpPr txBox="1"/>
          <p:nvPr/>
        </p:nvSpPr>
        <p:spPr>
          <a:xfrm>
            <a:off x="320982" y="3935748"/>
            <a:ext cx="4134477" cy="369332"/>
          </a:xfrm>
          <a:prstGeom prst="rect">
            <a:avLst/>
          </a:prstGeom>
          <a:noFill/>
        </p:spPr>
        <p:txBody>
          <a:bodyPr wrap="square" rtlCol="0">
            <a:spAutoFit/>
          </a:bodyPr>
          <a:lstStyle/>
          <a:p>
            <a:r>
              <a:rPr lang="en-IN" dirty="0"/>
              <a:t>Revenue and cost </a:t>
            </a:r>
            <a:r>
              <a:rPr lang="en-IN" dirty="0" err="1"/>
              <a:t>comparision</a:t>
            </a:r>
            <a:endParaRPr lang="en-IN" dirty="0"/>
          </a:p>
        </p:txBody>
      </p:sp>
      <p:pic>
        <p:nvPicPr>
          <p:cNvPr id="19" name="Picture 18">
            <a:extLst>
              <a:ext uri="{FF2B5EF4-FFF2-40B4-BE49-F238E27FC236}">
                <a16:creationId xmlns:a16="http://schemas.microsoft.com/office/drawing/2014/main" id="{4DC2B633-3940-527B-0DDE-3B70FE5E0757}"/>
              </a:ext>
            </a:extLst>
          </p:cNvPr>
          <p:cNvPicPr>
            <a:picLocks noChangeAspect="1"/>
          </p:cNvPicPr>
          <p:nvPr/>
        </p:nvPicPr>
        <p:blipFill>
          <a:blip r:embed="rId5"/>
          <a:stretch>
            <a:fillRect/>
          </a:stretch>
        </p:blipFill>
        <p:spPr>
          <a:xfrm>
            <a:off x="388743" y="4429849"/>
            <a:ext cx="3017524" cy="1800621"/>
          </a:xfrm>
          <a:prstGeom prst="rect">
            <a:avLst/>
          </a:prstGeom>
        </p:spPr>
      </p:pic>
      <p:pic>
        <p:nvPicPr>
          <p:cNvPr id="21" name="Picture 20">
            <a:extLst>
              <a:ext uri="{FF2B5EF4-FFF2-40B4-BE49-F238E27FC236}">
                <a16:creationId xmlns:a16="http://schemas.microsoft.com/office/drawing/2014/main" id="{C997279B-F08A-FC8F-BEBE-AFB6163AB2AD}"/>
              </a:ext>
            </a:extLst>
          </p:cNvPr>
          <p:cNvPicPr>
            <a:picLocks noChangeAspect="1"/>
          </p:cNvPicPr>
          <p:nvPr/>
        </p:nvPicPr>
        <p:blipFill>
          <a:blip r:embed="rId6"/>
          <a:stretch>
            <a:fillRect/>
          </a:stretch>
        </p:blipFill>
        <p:spPr>
          <a:xfrm>
            <a:off x="4051580" y="4053419"/>
            <a:ext cx="4526038" cy="267223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B3DC08DB-3F98-1CE6-4945-0A66BCD08ECB}"/>
              </a:ext>
            </a:extLst>
          </p:cNvPr>
          <p:cNvSpPr txBox="1"/>
          <p:nvPr/>
        </p:nvSpPr>
        <p:spPr>
          <a:xfrm>
            <a:off x="385482" y="193040"/>
            <a:ext cx="5907742" cy="646331"/>
          </a:xfrm>
          <a:prstGeom prst="rect">
            <a:avLst/>
          </a:prstGeom>
          <a:noFill/>
        </p:spPr>
        <p:txBody>
          <a:bodyPr wrap="square" rtlCol="0">
            <a:spAutoFit/>
          </a:bodyPr>
          <a:lstStyle/>
          <a:p>
            <a:r>
              <a:rPr lang="en-IN" dirty="0"/>
              <a:t>Average rainfall by season</a:t>
            </a:r>
          </a:p>
          <a:p>
            <a:endParaRPr lang="en-IN" dirty="0"/>
          </a:p>
        </p:txBody>
      </p:sp>
      <p:pic>
        <p:nvPicPr>
          <p:cNvPr id="14" name="Picture 13">
            <a:extLst>
              <a:ext uri="{FF2B5EF4-FFF2-40B4-BE49-F238E27FC236}">
                <a16:creationId xmlns:a16="http://schemas.microsoft.com/office/drawing/2014/main" id="{9CC4EFE7-1488-41E1-5929-4EDC20FE737B}"/>
              </a:ext>
            </a:extLst>
          </p:cNvPr>
          <p:cNvPicPr>
            <a:picLocks noChangeAspect="1"/>
          </p:cNvPicPr>
          <p:nvPr/>
        </p:nvPicPr>
        <p:blipFill>
          <a:blip r:embed="rId3"/>
          <a:stretch>
            <a:fillRect/>
          </a:stretch>
        </p:blipFill>
        <p:spPr>
          <a:xfrm>
            <a:off x="385482" y="716793"/>
            <a:ext cx="3289562" cy="1300266"/>
          </a:xfrm>
          <a:prstGeom prst="rect">
            <a:avLst/>
          </a:prstGeom>
        </p:spPr>
      </p:pic>
      <p:pic>
        <p:nvPicPr>
          <p:cNvPr id="16" name="Picture 15">
            <a:extLst>
              <a:ext uri="{FF2B5EF4-FFF2-40B4-BE49-F238E27FC236}">
                <a16:creationId xmlns:a16="http://schemas.microsoft.com/office/drawing/2014/main" id="{0EFF6C23-79D1-43AB-A874-543B67B44158}"/>
              </a:ext>
            </a:extLst>
          </p:cNvPr>
          <p:cNvPicPr>
            <a:picLocks noChangeAspect="1"/>
          </p:cNvPicPr>
          <p:nvPr/>
        </p:nvPicPr>
        <p:blipFill>
          <a:blip r:embed="rId4"/>
          <a:stretch>
            <a:fillRect/>
          </a:stretch>
        </p:blipFill>
        <p:spPr>
          <a:xfrm>
            <a:off x="4084259" y="716794"/>
            <a:ext cx="5014917" cy="2600148"/>
          </a:xfrm>
          <a:prstGeom prst="rect">
            <a:avLst/>
          </a:prstGeom>
        </p:spPr>
      </p:pic>
      <p:sp>
        <p:nvSpPr>
          <p:cNvPr id="17" name="TextBox 16">
            <a:extLst>
              <a:ext uri="{FF2B5EF4-FFF2-40B4-BE49-F238E27FC236}">
                <a16:creationId xmlns:a16="http://schemas.microsoft.com/office/drawing/2014/main" id="{3F7B73C7-2854-5496-92A5-DBE3DDC8D6E3}"/>
              </a:ext>
            </a:extLst>
          </p:cNvPr>
          <p:cNvSpPr txBox="1"/>
          <p:nvPr/>
        </p:nvSpPr>
        <p:spPr>
          <a:xfrm>
            <a:off x="385482" y="3429000"/>
            <a:ext cx="3415553" cy="646331"/>
          </a:xfrm>
          <a:prstGeom prst="rect">
            <a:avLst/>
          </a:prstGeom>
          <a:noFill/>
        </p:spPr>
        <p:txBody>
          <a:bodyPr wrap="square" rtlCol="0">
            <a:spAutoFit/>
          </a:bodyPr>
          <a:lstStyle/>
          <a:p>
            <a:r>
              <a:rPr lang="en-IN" dirty="0"/>
              <a:t>Average yield by crop</a:t>
            </a:r>
          </a:p>
          <a:p>
            <a:endParaRPr lang="en-IN" dirty="0"/>
          </a:p>
        </p:txBody>
      </p:sp>
      <p:pic>
        <p:nvPicPr>
          <p:cNvPr id="19" name="Picture 18">
            <a:extLst>
              <a:ext uri="{FF2B5EF4-FFF2-40B4-BE49-F238E27FC236}">
                <a16:creationId xmlns:a16="http://schemas.microsoft.com/office/drawing/2014/main" id="{2F90BE47-1417-9669-11E7-23AE022A7696}"/>
              </a:ext>
            </a:extLst>
          </p:cNvPr>
          <p:cNvPicPr>
            <a:picLocks noChangeAspect="1"/>
          </p:cNvPicPr>
          <p:nvPr/>
        </p:nvPicPr>
        <p:blipFill>
          <a:blip r:embed="rId5"/>
          <a:stretch>
            <a:fillRect/>
          </a:stretch>
        </p:blipFill>
        <p:spPr>
          <a:xfrm>
            <a:off x="456677" y="3947899"/>
            <a:ext cx="3012664" cy="1963090"/>
          </a:xfrm>
          <a:prstGeom prst="rect">
            <a:avLst/>
          </a:prstGeom>
        </p:spPr>
      </p:pic>
      <p:pic>
        <p:nvPicPr>
          <p:cNvPr id="21" name="Picture 20">
            <a:extLst>
              <a:ext uri="{FF2B5EF4-FFF2-40B4-BE49-F238E27FC236}">
                <a16:creationId xmlns:a16="http://schemas.microsoft.com/office/drawing/2014/main" id="{2337D935-ACEF-D764-C3A0-4DEAD94AA6A3}"/>
              </a:ext>
            </a:extLst>
          </p:cNvPr>
          <p:cNvPicPr>
            <a:picLocks noChangeAspect="1"/>
          </p:cNvPicPr>
          <p:nvPr/>
        </p:nvPicPr>
        <p:blipFill>
          <a:blip r:embed="rId6"/>
          <a:stretch>
            <a:fillRect/>
          </a:stretch>
        </p:blipFill>
        <p:spPr>
          <a:xfrm>
            <a:off x="3960361" y="3644092"/>
            <a:ext cx="5219497" cy="273878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a:extLst>
              <a:ext uri="{FF2B5EF4-FFF2-40B4-BE49-F238E27FC236}">
                <a16:creationId xmlns:a16="http://schemas.microsoft.com/office/drawing/2014/main" id="{99E21E5F-23FE-19C8-0C68-1F9ADEB7BD05}"/>
              </a:ext>
            </a:extLst>
          </p:cNvPr>
          <p:cNvSpPr txBox="1"/>
          <p:nvPr/>
        </p:nvSpPr>
        <p:spPr>
          <a:xfrm>
            <a:off x="320982" y="242047"/>
            <a:ext cx="4591677" cy="707886"/>
          </a:xfrm>
          <a:prstGeom prst="rect">
            <a:avLst/>
          </a:prstGeom>
          <a:noFill/>
        </p:spPr>
        <p:txBody>
          <a:bodyPr wrap="square" rtlCol="0">
            <a:spAutoFit/>
          </a:bodyPr>
          <a:lstStyle/>
          <a:p>
            <a:r>
              <a:rPr lang="en-IN" sz="2000" dirty="0"/>
              <a:t>Crop yield across season</a:t>
            </a:r>
          </a:p>
          <a:p>
            <a:endParaRPr lang="en-IN" sz="2000" dirty="0"/>
          </a:p>
        </p:txBody>
      </p:sp>
      <p:pic>
        <p:nvPicPr>
          <p:cNvPr id="13" name="Picture 12">
            <a:extLst>
              <a:ext uri="{FF2B5EF4-FFF2-40B4-BE49-F238E27FC236}">
                <a16:creationId xmlns:a16="http://schemas.microsoft.com/office/drawing/2014/main" id="{E363B302-E47D-98CB-C243-D57F1E3558F2}"/>
              </a:ext>
            </a:extLst>
          </p:cNvPr>
          <p:cNvPicPr>
            <a:picLocks noChangeAspect="1"/>
          </p:cNvPicPr>
          <p:nvPr/>
        </p:nvPicPr>
        <p:blipFill>
          <a:blip r:embed="rId3"/>
          <a:stretch>
            <a:fillRect/>
          </a:stretch>
        </p:blipFill>
        <p:spPr>
          <a:xfrm>
            <a:off x="228252" y="708424"/>
            <a:ext cx="3343561" cy="3200138"/>
          </a:xfrm>
          <a:prstGeom prst="rect">
            <a:avLst/>
          </a:prstGeom>
        </p:spPr>
      </p:pic>
      <p:pic>
        <p:nvPicPr>
          <p:cNvPr id="15" name="Picture 14">
            <a:extLst>
              <a:ext uri="{FF2B5EF4-FFF2-40B4-BE49-F238E27FC236}">
                <a16:creationId xmlns:a16="http://schemas.microsoft.com/office/drawing/2014/main" id="{44EB95DD-6996-2BDA-DF97-5E547ECB55BB}"/>
              </a:ext>
            </a:extLst>
          </p:cNvPr>
          <p:cNvPicPr>
            <a:picLocks noChangeAspect="1"/>
          </p:cNvPicPr>
          <p:nvPr/>
        </p:nvPicPr>
        <p:blipFill>
          <a:blip r:embed="rId4"/>
          <a:stretch>
            <a:fillRect/>
          </a:stretch>
        </p:blipFill>
        <p:spPr>
          <a:xfrm>
            <a:off x="3757273" y="292573"/>
            <a:ext cx="5829081" cy="3991589"/>
          </a:xfrm>
          <a:prstGeom prst="rect">
            <a:avLst/>
          </a:prstGeom>
        </p:spPr>
      </p:pic>
      <p:sp>
        <p:nvSpPr>
          <p:cNvPr id="17" name="TextBox 16">
            <a:extLst>
              <a:ext uri="{FF2B5EF4-FFF2-40B4-BE49-F238E27FC236}">
                <a16:creationId xmlns:a16="http://schemas.microsoft.com/office/drawing/2014/main" id="{F1280A4F-89C4-7E8E-04FA-A126773F51A2}"/>
              </a:ext>
            </a:extLst>
          </p:cNvPr>
          <p:cNvSpPr txBox="1"/>
          <p:nvPr/>
        </p:nvSpPr>
        <p:spPr>
          <a:xfrm>
            <a:off x="103655" y="4273789"/>
            <a:ext cx="3989294" cy="369332"/>
          </a:xfrm>
          <a:prstGeom prst="rect">
            <a:avLst/>
          </a:prstGeom>
          <a:noFill/>
        </p:spPr>
        <p:txBody>
          <a:bodyPr wrap="square" rtlCol="0">
            <a:spAutoFit/>
          </a:bodyPr>
          <a:lstStyle/>
          <a:p>
            <a:r>
              <a:rPr lang="en-IN" dirty="0"/>
              <a:t>  Average Yield by irrigation method</a:t>
            </a:r>
          </a:p>
        </p:txBody>
      </p:sp>
      <p:pic>
        <p:nvPicPr>
          <p:cNvPr id="19" name="Picture 18">
            <a:extLst>
              <a:ext uri="{FF2B5EF4-FFF2-40B4-BE49-F238E27FC236}">
                <a16:creationId xmlns:a16="http://schemas.microsoft.com/office/drawing/2014/main" id="{B781BA77-EC8C-32C8-2C74-5274301EDBB8}"/>
              </a:ext>
            </a:extLst>
          </p:cNvPr>
          <p:cNvPicPr>
            <a:picLocks noChangeAspect="1"/>
          </p:cNvPicPr>
          <p:nvPr/>
        </p:nvPicPr>
        <p:blipFill>
          <a:blip r:embed="rId5"/>
          <a:stretch>
            <a:fillRect/>
          </a:stretch>
        </p:blipFill>
        <p:spPr>
          <a:xfrm>
            <a:off x="418573" y="4775838"/>
            <a:ext cx="2611497" cy="1465064"/>
          </a:xfrm>
          <a:prstGeom prst="rect">
            <a:avLst/>
          </a:prstGeom>
        </p:spPr>
      </p:pic>
      <p:pic>
        <p:nvPicPr>
          <p:cNvPr id="21" name="Picture 20">
            <a:extLst>
              <a:ext uri="{FF2B5EF4-FFF2-40B4-BE49-F238E27FC236}">
                <a16:creationId xmlns:a16="http://schemas.microsoft.com/office/drawing/2014/main" id="{CA19DED6-096A-E6BF-3C0E-40366931E58B}"/>
              </a:ext>
            </a:extLst>
          </p:cNvPr>
          <p:cNvPicPr>
            <a:picLocks noChangeAspect="1"/>
          </p:cNvPicPr>
          <p:nvPr/>
        </p:nvPicPr>
        <p:blipFill>
          <a:blip r:embed="rId6"/>
          <a:stretch>
            <a:fillRect/>
          </a:stretch>
        </p:blipFill>
        <p:spPr>
          <a:xfrm>
            <a:off x="4222796" y="4334688"/>
            <a:ext cx="4225033" cy="228126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CF2B7F-666B-1200-3791-53AD8F298BB9}"/>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TextBox 2">
            <a:extLst>
              <a:ext uri="{FF2B5EF4-FFF2-40B4-BE49-F238E27FC236}">
                <a16:creationId xmlns:a16="http://schemas.microsoft.com/office/drawing/2014/main" id="{622F453A-70A2-31F8-9BA0-32EF5394F835}"/>
              </a:ext>
            </a:extLst>
          </p:cNvPr>
          <p:cNvSpPr txBox="1"/>
          <p:nvPr/>
        </p:nvSpPr>
        <p:spPr>
          <a:xfrm>
            <a:off x="215153" y="152399"/>
            <a:ext cx="4518212" cy="646331"/>
          </a:xfrm>
          <a:prstGeom prst="rect">
            <a:avLst/>
          </a:prstGeom>
          <a:noFill/>
        </p:spPr>
        <p:txBody>
          <a:bodyPr wrap="square" rtlCol="0">
            <a:spAutoFit/>
          </a:bodyPr>
          <a:lstStyle/>
          <a:p>
            <a:r>
              <a:rPr lang="en-IN" dirty="0"/>
              <a:t>Water efficiency by season</a:t>
            </a:r>
          </a:p>
          <a:p>
            <a:endParaRPr lang="en-IN" dirty="0"/>
          </a:p>
        </p:txBody>
      </p:sp>
      <p:pic>
        <p:nvPicPr>
          <p:cNvPr id="5" name="Picture 4">
            <a:extLst>
              <a:ext uri="{FF2B5EF4-FFF2-40B4-BE49-F238E27FC236}">
                <a16:creationId xmlns:a16="http://schemas.microsoft.com/office/drawing/2014/main" id="{33DDF430-EC52-068B-F69D-E47325463F85}"/>
              </a:ext>
            </a:extLst>
          </p:cNvPr>
          <p:cNvPicPr>
            <a:picLocks noChangeAspect="1"/>
          </p:cNvPicPr>
          <p:nvPr/>
        </p:nvPicPr>
        <p:blipFill>
          <a:blip r:embed="rId2"/>
          <a:stretch>
            <a:fillRect/>
          </a:stretch>
        </p:blipFill>
        <p:spPr>
          <a:xfrm>
            <a:off x="291435" y="554878"/>
            <a:ext cx="4104911" cy="1076698"/>
          </a:xfrm>
          <a:prstGeom prst="rect">
            <a:avLst/>
          </a:prstGeom>
        </p:spPr>
      </p:pic>
      <p:pic>
        <p:nvPicPr>
          <p:cNvPr id="7" name="Picture 6">
            <a:extLst>
              <a:ext uri="{FF2B5EF4-FFF2-40B4-BE49-F238E27FC236}">
                <a16:creationId xmlns:a16="http://schemas.microsoft.com/office/drawing/2014/main" id="{A5DA1527-31E6-6156-7739-47346D7AE5A0}"/>
              </a:ext>
            </a:extLst>
          </p:cNvPr>
          <p:cNvPicPr>
            <a:picLocks noChangeAspect="1"/>
          </p:cNvPicPr>
          <p:nvPr/>
        </p:nvPicPr>
        <p:blipFill>
          <a:blip r:embed="rId3"/>
          <a:stretch>
            <a:fillRect/>
          </a:stretch>
        </p:blipFill>
        <p:spPr>
          <a:xfrm>
            <a:off x="4809647" y="152399"/>
            <a:ext cx="4464355" cy="2982073"/>
          </a:xfrm>
          <a:prstGeom prst="rect">
            <a:avLst/>
          </a:prstGeom>
        </p:spPr>
      </p:pic>
      <p:sp>
        <p:nvSpPr>
          <p:cNvPr id="9" name="TextBox 8">
            <a:extLst>
              <a:ext uri="{FF2B5EF4-FFF2-40B4-BE49-F238E27FC236}">
                <a16:creationId xmlns:a16="http://schemas.microsoft.com/office/drawing/2014/main" id="{87DF90DE-3CE3-0391-0294-5E34104CA36A}"/>
              </a:ext>
            </a:extLst>
          </p:cNvPr>
          <p:cNvSpPr txBox="1"/>
          <p:nvPr/>
        </p:nvSpPr>
        <p:spPr>
          <a:xfrm>
            <a:off x="246149" y="2805952"/>
            <a:ext cx="4307922" cy="369332"/>
          </a:xfrm>
          <a:prstGeom prst="rect">
            <a:avLst/>
          </a:prstGeom>
          <a:noFill/>
        </p:spPr>
        <p:txBody>
          <a:bodyPr wrap="square" rtlCol="0">
            <a:spAutoFit/>
          </a:bodyPr>
          <a:lstStyle/>
          <a:p>
            <a:r>
              <a:rPr lang="en-IN" dirty="0"/>
              <a:t>Disease and pest risk by season</a:t>
            </a:r>
          </a:p>
        </p:txBody>
      </p:sp>
      <p:pic>
        <p:nvPicPr>
          <p:cNvPr id="11" name="Picture 10">
            <a:extLst>
              <a:ext uri="{FF2B5EF4-FFF2-40B4-BE49-F238E27FC236}">
                <a16:creationId xmlns:a16="http://schemas.microsoft.com/office/drawing/2014/main" id="{74827E49-0DA4-BA0E-9430-FD04487411B6}"/>
              </a:ext>
            </a:extLst>
          </p:cNvPr>
          <p:cNvPicPr>
            <a:picLocks noChangeAspect="1"/>
          </p:cNvPicPr>
          <p:nvPr/>
        </p:nvPicPr>
        <p:blipFill>
          <a:blip r:embed="rId4"/>
          <a:stretch>
            <a:fillRect/>
          </a:stretch>
        </p:blipFill>
        <p:spPr>
          <a:xfrm>
            <a:off x="291434" y="3423977"/>
            <a:ext cx="4641567" cy="1434893"/>
          </a:xfrm>
          <a:prstGeom prst="rect">
            <a:avLst/>
          </a:prstGeom>
        </p:spPr>
      </p:pic>
      <p:pic>
        <p:nvPicPr>
          <p:cNvPr id="13" name="Picture 12">
            <a:extLst>
              <a:ext uri="{FF2B5EF4-FFF2-40B4-BE49-F238E27FC236}">
                <a16:creationId xmlns:a16="http://schemas.microsoft.com/office/drawing/2014/main" id="{26A92E1B-EFC2-E65C-2A37-E77040027BF9}"/>
              </a:ext>
            </a:extLst>
          </p:cNvPr>
          <p:cNvPicPr>
            <a:picLocks noChangeAspect="1"/>
          </p:cNvPicPr>
          <p:nvPr/>
        </p:nvPicPr>
        <p:blipFill>
          <a:blip r:embed="rId5"/>
          <a:stretch>
            <a:fillRect/>
          </a:stretch>
        </p:blipFill>
        <p:spPr>
          <a:xfrm>
            <a:off x="4809647" y="3367833"/>
            <a:ext cx="4554650" cy="2982073"/>
          </a:xfrm>
          <a:prstGeom prst="rect">
            <a:avLst/>
          </a:prstGeom>
        </p:spPr>
      </p:pic>
    </p:spTree>
    <p:extLst>
      <p:ext uri="{BB962C8B-B14F-4D97-AF65-F5344CB8AC3E}">
        <p14:creationId xmlns:p14="http://schemas.microsoft.com/office/powerpoint/2010/main" val="3770126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6725B3-5492-FB11-3EF6-746FC344CBC2}"/>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4" name="TextBox 3">
            <a:extLst>
              <a:ext uri="{FF2B5EF4-FFF2-40B4-BE49-F238E27FC236}">
                <a16:creationId xmlns:a16="http://schemas.microsoft.com/office/drawing/2014/main" id="{83728D64-B403-95A8-F59F-22738A2C41AD}"/>
              </a:ext>
            </a:extLst>
          </p:cNvPr>
          <p:cNvSpPr txBox="1"/>
          <p:nvPr/>
        </p:nvSpPr>
        <p:spPr>
          <a:xfrm>
            <a:off x="152401" y="170329"/>
            <a:ext cx="4634752" cy="369332"/>
          </a:xfrm>
          <a:prstGeom prst="rect">
            <a:avLst/>
          </a:prstGeom>
          <a:noFill/>
        </p:spPr>
        <p:txBody>
          <a:bodyPr wrap="square" rtlCol="0">
            <a:spAutoFit/>
          </a:bodyPr>
          <a:lstStyle/>
          <a:p>
            <a:r>
              <a:rPr lang="en-IN" dirty="0"/>
              <a:t>profit margin by season</a:t>
            </a:r>
          </a:p>
        </p:txBody>
      </p:sp>
      <p:pic>
        <p:nvPicPr>
          <p:cNvPr id="6" name="Picture 5">
            <a:extLst>
              <a:ext uri="{FF2B5EF4-FFF2-40B4-BE49-F238E27FC236}">
                <a16:creationId xmlns:a16="http://schemas.microsoft.com/office/drawing/2014/main" id="{51B046EC-6028-32FC-5E46-F6433F13B39B}"/>
              </a:ext>
            </a:extLst>
          </p:cNvPr>
          <p:cNvPicPr>
            <a:picLocks noChangeAspect="1"/>
          </p:cNvPicPr>
          <p:nvPr/>
        </p:nvPicPr>
        <p:blipFill>
          <a:blip r:embed="rId2"/>
          <a:stretch>
            <a:fillRect/>
          </a:stretch>
        </p:blipFill>
        <p:spPr>
          <a:xfrm>
            <a:off x="284298" y="597932"/>
            <a:ext cx="2876697" cy="952962"/>
          </a:xfrm>
          <a:prstGeom prst="rect">
            <a:avLst/>
          </a:prstGeom>
        </p:spPr>
      </p:pic>
      <p:sp>
        <p:nvSpPr>
          <p:cNvPr id="8" name="TextBox 7">
            <a:extLst>
              <a:ext uri="{FF2B5EF4-FFF2-40B4-BE49-F238E27FC236}">
                <a16:creationId xmlns:a16="http://schemas.microsoft.com/office/drawing/2014/main" id="{A340AF57-673E-95DE-CB79-F1AE606F807D}"/>
              </a:ext>
            </a:extLst>
          </p:cNvPr>
          <p:cNvSpPr txBox="1"/>
          <p:nvPr/>
        </p:nvSpPr>
        <p:spPr>
          <a:xfrm>
            <a:off x="3567954" y="268941"/>
            <a:ext cx="2805952" cy="369332"/>
          </a:xfrm>
          <a:prstGeom prst="rect">
            <a:avLst/>
          </a:prstGeom>
          <a:noFill/>
        </p:spPr>
        <p:txBody>
          <a:bodyPr wrap="square" rtlCol="0">
            <a:spAutoFit/>
          </a:bodyPr>
          <a:lstStyle/>
          <a:p>
            <a:r>
              <a:rPr lang="en-IN" dirty="0"/>
              <a:t>profit and loss farms</a:t>
            </a:r>
          </a:p>
        </p:txBody>
      </p:sp>
      <p:pic>
        <p:nvPicPr>
          <p:cNvPr id="10" name="Picture 9">
            <a:extLst>
              <a:ext uri="{FF2B5EF4-FFF2-40B4-BE49-F238E27FC236}">
                <a16:creationId xmlns:a16="http://schemas.microsoft.com/office/drawing/2014/main" id="{D83FA04E-D4E7-2334-A5A7-847DCAFE3D7F}"/>
              </a:ext>
            </a:extLst>
          </p:cNvPr>
          <p:cNvPicPr>
            <a:picLocks noChangeAspect="1"/>
          </p:cNvPicPr>
          <p:nvPr/>
        </p:nvPicPr>
        <p:blipFill>
          <a:blip r:embed="rId3"/>
          <a:stretch>
            <a:fillRect/>
          </a:stretch>
        </p:blipFill>
        <p:spPr>
          <a:xfrm>
            <a:off x="3660887" y="736885"/>
            <a:ext cx="2382407" cy="952962"/>
          </a:xfrm>
          <a:prstGeom prst="rect">
            <a:avLst/>
          </a:prstGeom>
        </p:spPr>
      </p:pic>
      <p:pic>
        <p:nvPicPr>
          <p:cNvPr id="12" name="Picture 11">
            <a:extLst>
              <a:ext uri="{FF2B5EF4-FFF2-40B4-BE49-F238E27FC236}">
                <a16:creationId xmlns:a16="http://schemas.microsoft.com/office/drawing/2014/main" id="{FACE7407-0062-1163-AE7B-3D2A80AEB240}"/>
              </a:ext>
            </a:extLst>
          </p:cNvPr>
          <p:cNvPicPr>
            <a:picLocks noChangeAspect="1"/>
          </p:cNvPicPr>
          <p:nvPr/>
        </p:nvPicPr>
        <p:blipFill>
          <a:blip r:embed="rId4"/>
          <a:stretch>
            <a:fillRect/>
          </a:stretch>
        </p:blipFill>
        <p:spPr>
          <a:xfrm>
            <a:off x="6543186" y="3130"/>
            <a:ext cx="3025574" cy="2142565"/>
          </a:xfrm>
          <a:prstGeom prst="rect">
            <a:avLst/>
          </a:prstGeom>
        </p:spPr>
      </p:pic>
      <p:sp>
        <p:nvSpPr>
          <p:cNvPr id="14" name="TextBox 13">
            <a:extLst>
              <a:ext uri="{FF2B5EF4-FFF2-40B4-BE49-F238E27FC236}">
                <a16:creationId xmlns:a16="http://schemas.microsoft.com/office/drawing/2014/main" id="{7CC70029-CDB9-E639-447D-F8E2B894B82A}"/>
              </a:ext>
            </a:extLst>
          </p:cNvPr>
          <p:cNvSpPr txBox="1"/>
          <p:nvPr/>
        </p:nvSpPr>
        <p:spPr>
          <a:xfrm>
            <a:off x="152401" y="1689847"/>
            <a:ext cx="3299011" cy="369332"/>
          </a:xfrm>
          <a:prstGeom prst="rect">
            <a:avLst/>
          </a:prstGeom>
          <a:noFill/>
        </p:spPr>
        <p:txBody>
          <a:bodyPr wrap="square" rtlCol="0">
            <a:spAutoFit/>
          </a:bodyPr>
          <a:lstStyle/>
          <a:p>
            <a:r>
              <a:rPr lang="en-IN" dirty="0"/>
              <a:t>correlation matrix</a:t>
            </a:r>
          </a:p>
        </p:txBody>
      </p:sp>
      <p:pic>
        <p:nvPicPr>
          <p:cNvPr id="16" name="Picture 15">
            <a:extLst>
              <a:ext uri="{FF2B5EF4-FFF2-40B4-BE49-F238E27FC236}">
                <a16:creationId xmlns:a16="http://schemas.microsoft.com/office/drawing/2014/main" id="{A11C4278-F61D-0614-1E2C-423074C4D1B9}"/>
              </a:ext>
            </a:extLst>
          </p:cNvPr>
          <p:cNvPicPr>
            <a:picLocks noChangeAspect="1"/>
          </p:cNvPicPr>
          <p:nvPr/>
        </p:nvPicPr>
        <p:blipFill>
          <a:blip r:embed="rId5"/>
          <a:stretch>
            <a:fillRect/>
          </a:stretch>
        </p:blipFill>
        <p:spPr>
          <a:xfrm>
            <a:off x="1363623" y="2059180"/>
            <a:ext cx="7435775" cy="4529880"/>
          </a:xfrm>
          <a:prstGeom prst="rect">
            <a:avLst/>
          </a:prstGeom>
        </p:spPr>
      </p:pic>
    </p:spTree>
    <p:extLst>
      <p:ext uri="{BB962C8B-B14F-4D97-AF65-F5344CB8AC3E}">
        <p14:creationId xmlns:p14="http://schemas.microsoft.com/office/powerpoint/2010/main" val="47890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2B0CB0-2DC7-305D-14B5-67B87C26323E}"/>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3" name="TextBox 2">
            <a:extLst>
              <a:ext uri="{FF2B5EF4-FFF2-40B4-BE49-F238E27FC236}">
                <a16:creationId xmlns:a16="http://schemas.microsoft.com/office/drawing/2014/main" id="{FC7CE3D0-F8FF-84B3-E6E9-40A8915F0292}"/>
              </a:ext>
            </a:extLst>
          </p:cNvPr>
          <p:cNvSpPr txBox="1"/>
          <p:nvPr/>
        </p:nvSpPr>
        <p:spPr>
          <a:xfrm>
            <a:off x="188259" y="116542"/>
            <a:ext cx="2886635" cy="369332"/>
          </a:xfrm>
          <a:prstGeom prst="rect">
            <a:avLst/>
          </a:prstGeom>
          <a:noFill/>
        </p:spPr>
        <p:txBody>
          <a:bodyPr wrap="square" rtlCol="0">
            <a:spAutoFit/>
          </a:bodyPr>
          <a:lstStyle/>
          <a:p>
            <a:r>
              <a:rPr lang="en-IN" dirty="0"/>
              <a:t>State wise Yield</a:t>
            </a:r>
          </a:p>
        </p:txBody>
      </p:sp>
      <p:pic>
        <p:nvPicPr>
          <p:cNvPr id="5" name="Picture 4">
            <a:extLst>
              <a:ext uri="{FF2B5EF4-FFF2-40B4-BE49-F238E27FC236}">
                <a16:creationId xmlns:a16="http://schemas.microsoft.com/office/drawing/2014/main" id="{66EA2DC9-5E4D-B618-59C7-DA2E33DA8646}"/>
              </a:ext>
            </a:extLst>
          </p:cNvPr>
          <p:cNvPicPr>
            <a:picLocks noChangeAspect="1"/>
          </p:cNvPicPr>
          <p:nvPr/>
        </p:nvPicPr>
        <p:blipFill>
          <a:blip r:embed="rId2"/>
          <a:stretch>
            <a:fillRect/>
          </a:stretch>
        </p:blipFill>
        <p:spPr>
          <a:xfrm>
            <a:off x="188259" y="671171"/>
            <a:ext cx="2886635" cy="1810262"/>
          </a:xfrm>
          <a:prstGeom prst="rect">
            <a:avLst/>
          </a:prstGeom>
        </p:spPr>
      </p:pic>
      <p:pic>
        <p:nvPicPr>
          <p:cNvPr id="7" name="Picture 6">
            <a:extLst>
              <a:ext uri="{FF2B5EF4-FFF2-40B4-BE49-F238E27FC236}">
                <a16:creationId xmlns:a16="http://schemas.microsoft.com/office/drawing/2014/main" id="{DB43AAB6-4411-D215-9D4A-D39A567719EB}"/>
              </a:ext>
            </a:extLst>
          </p:cNvPr>
          <p:cNvPicPr>
            <a:picLocks noChangeAspect="1"/>
          </p:cNvPicPr>
          <p:nvPr/>
        </p:nvPicPr>
        <p:blipFill>
          <a:blip r:embed="rId3"/>
          <a:stretch>
            <a:fillRect/>
          </a:stretch>
        </p:blipFill>
        <p:spPr>
          <a:xfrm>
            <a:off x="1373567" y="2572286"/>
            <a:ext cx="7653892" cy="3608564"/>
          </a:xfrm>
          <a:prstGeom prst="rect">
            <a:avLst/>
          </a:prstGeom>
        </p:spPr>
      </p:pic>
    </p:spTree>
    <p:extLst>
      <p:ext uri="{BB962C8B-B14F-4D97-AF65-F5344CB8AC3E}">
        <p14:creationId xmlns:p14="http://schemas.microsoft.com/office/powerpoint/2010/main" val="2011166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1EA4EF-91F0-DE7B-3A30-4A2E268505EB}"/>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4" name="TextBox 3">
            <a:extLst>
              <a:ext uri="{FF2B5EF4-FFF2-40B4-BE49-F238E27FC236}">
                <a16:creationId xmlns:a16="http://schemas.microsoft.com/office/drawing/2014/main" id="{2986EB68-0468-79BB-84ED-52A5A07DDA15}"/>
              </a:ext>
            </a:extLst>
          </p:cNvPr>
          <p:cNvSpPr txBox="1"/>
          <p:nvPr/>
        </p:nvSpPr>
        <p:spPr>
          <a:xfrm>
            <a:off x="242047" y="71717"/>
            <a:ext cx="2456330" cy="369332"/>
          </a:xfrm>
          <a:prstGeom prst="rect">
            <a:avLst/>
          </a:prstGeom>
          <a:noFill/>
        </p:spPr>
        <p:txBody>
          <a:bodyPr wrap="square" rtlCol="0">
            <a:spAutoFit/>
          </a:bodyPr>
          <a:lstStyle/>
          <a:p>
            <a:r>
              <a:rPr lang="en-IN" dirty="0"/>
              <a:t>SUMMARY:-</a:t>
            </a:r>
          </a:p>
        </p:txBody>
      </p:sp>
      <p:pic>
        <p:nvPicPr>
          <p:cNvPr id="6" name="Picture 5">
            <a:extLst>
              <a:ext uri="{FF2B5EF4-FFF2-40B4-BE49-F238E27FC236}">
                <a16:creationId xmlns:a16="http://schemas.microsoft.com/office/drawing/2014/main" id="{E3FC3E4C-45F3-0897-7252-93D5B3D38B6F}"/>
              </a:ext>
            </a:extLst>
          </p:cNvPr>
          <p:cNvPicPr>
            <a:picLocks noChangeAspect="1"/>
          </p:cNvPicPr>
          <p:nvPr/>
        </p:nvPicPr>
        <p:blipFill>
          <a:blip r:embed="rId2"/>
          <a:stretch>
            <a:fillRect/>
          </a:stretch>
        </p:blipFill>
        <p:spPr>
          <a:xfrm>
            <a:off x="122750" y="441049"/>
            <a:ext cx="5784991" cy="3747469"/>
          </a:xfrm>
          <a:prstGeom prst="rect">
            <a:avLst/>
          </a:prstGeom>
        </p:spPr>
      </p:pic>
      <p:pic>
        <p:nvPicPr>
          <p:cNvPr id="8" name="Picture 7">
            <a:extLst>
              <a:ext uri="{FF2B5EF4-FFF2-40B4-BE49-F238E27FC236}">
                <a16:creationId xmlns:a16="http://schemas.microsoft.com/office/drawing/2014/main" id="{C163E665-014F-7659-A392-575CB0609C48}"/>
              </a:ext>
            </a:extLst>
          </p:cNvPr>
          <p:cNvPicPr>
            <a:picLocks noChangeAspect="1"/>
          </p:cNvPicPr>
          <p:nvPr/>
        </p:nvPicPr>
        <p:blipFill>
          <a:blip r:embed="rId3"/>
          <a:stretch>
            <a:fillRect/>
          </a:stretch>
        </p:blipFill>
        <p:spPr>
          <a:xfrm>
            <a:off x="336163" y="4255909"/>
            <a:ext cx="5377003" cy="2170006"/>
          </a:xfrm>
          <a:prstGeom prst="rect">
            <a:avLst/>
          </a:prstGeom>
        </p:spPr>
      </p:pic>
    </p:spTree>
    <p:extLst>
      <p:ext uri="{BB962C8B-B14F-4D97-AF65-F5344CB8AC3E}">
        <p14:creationId xmlns:p14="http://schemas.microsoft.com/office/powerpoint/2010/main" val="408132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EDE4E2-F290-7FC7-EFEA-FD4E25E6DCFB}"/>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
        <p:nvSpPr>
          <p:cNvPr id="3" name="TextBox 2">
            <a:extLst>
              <a:ext uri="{FF2B5EF4-FFF2-40B4-BE49-F238E27FC236}">
                <a16:creationId xmlns:a16="http://schemas.microsoft.com/office/drawing/2014/main" id="{9B53DB98-AF66-C5D4-F3CB-04896153EE97}"/>
              </a:ext>
            </a:extLst>
          </p:cNvPr>
          <p:cNvSpPr txBox="1"/>
          <p:nvPr/>
        </p:nvSpPr>
        <p:spPr>
          <a:xfrm>
            <a:off x="130002" y="161364"/>
            <a:ext cx="9426374" cy="6555641"/>
          </a:xfrm>
          <a:prstGeom prst="rect">
            <a:avLst/>
          </a:prstGeom>
          <a:noFill/>
        </p:spPr>
        <p:txBody>
          <a:bodyPr wrap="square" rtlCol="0">
            <a:spAutoFit/>
          </a:bodyPr>
          <a:lstStyle/>
          <a:p>
            <a:r>
              <a:rPr lang="en-IN" b="1" u="sng" dirty="0"/>
              <a:t>Overall Insights</a:t>
            </a:r>
            <a:r>
              <a:rPr lang="en-IN" u="sng" dirty="0"/>
              <a:t>:-</a:t>
            </a:r>
          </a:p>
          <a:p>
            <a:r>
              <a:rPr lang="en-US" sz="1600" b="1" dirty="0"/>
              <a:t>🌾 Agricultural Performance</a:t>
            </a:r>
            <a:endParaRPr lang="en-US" sz="1600" dirty="0"/>
          </a:p>
          <a:p>
            <a:r>
              <a:rPr lang="en-US" sz="1600" b="1" dirty="0"/>
              <a:t>.Kharif season</a:t>
            </a:r>
            <a:r>
              <a:rPr lang="en-US" sz="1600" dirty="0"/>
              <a:t> recorded the highest average yield (</a:t>
            </a:r>
            <a:r>
              <a:rPr lang="en-US" sz="1600" b="1" dirty="0"/>
              <a:t>5.64 t/ha</a:t>
            </a:r>
            <a:r>
              <a:rPr lang="en-US" sz="1600" dirty="0"/>
              <a:t>) and production (</a:t>
            </a:r>
            <a:r>
              <a:rPr lang="en-US" sz="1600" b="1" dirty="0"/>
              <a:t>46.31 </a:t>
            </a:r>
            <a:r>
              <a:rPr lang="en-US" sz="1600" b="1" dirty="0" err="1"/>
              <a:t>tonnes</a:t>
            </a:r>
            <a:r>
              <a:rPr lang="en-US" sz="1600" dirty="0"/>
              <a:t>). </a:t>
            </a:r>
          </a:p>
          <a:p>
            <a:r>
              <a:rPr lang="en-US" sz="1600" b="1" dirty="0"/>
              <a:t>.Zaid season</a:t>
            </a:r>
            <a:r>
              <a:rPr lang="en-US" sz="1600" dirty="0"/>
              <a:t> showed the lowest average yield (</a:t>
            </a:r>
            <a:r>
              <a:rPr lang="en-US" sz="1600" b="1" dirty="0"/>
              <a:t>4.67 t/ha</a:t>
            </a:r>
            <a:r>
              <a:rPr lang="en-US" sz="1600" dirty="0"/>
              <a:t>) and production (</a:t>
            </a:r>
            <a:r>
              <a:rPr lang="en-US" sz="1600" b="1" dirty="0"/>
              <a:t>38.89 </a:t>
            </a:r>
            <a:r>
              <a:rPr lang="en-US" sz="1600" b="1" dirty="0" err="1"/>
              <a:t>tonnes</a:t>
            </a:r>
            <a:r>
              <a:rPr lang="en-US" sz="1600" dirty="0"/>
              <a:t>). </a:t>
            </a:r>
          </a:p>
          <a:p>
            <a:r>
              <a:rPr lang="en-US" sz="1600" b="1" dirty="0"/>
              <a:t>.Sugarcane</a:t>
            </a:r>
            <a:r>
              <a:rPr lang="en-US" sz="1600" dirty="0"/>
              <a:t> had the highest average yield among crops (</a:t>
            </a:r>
            <a:r>
              <a:rPr lang="en-US" sz="1600" b="1" dirty="0"/>
              <a:t>46.94 t/ha</a:t>
            </a:r>
            <a:r>
              <a:rPr lang="en-US" sz="1600" dirty="0"/>
              <a:t>). </a:t>
            </a:r>
          </a:p>
          <a:p>
            <a:r>
              <a:rPr lang="en-US" sz="1600" b="1" dirty="0"/>
              <a:t>💰 Economic Performance</a:t>
            </a:r>
            <a:endParaRPr lang="en-US" sz="1600" dirty="0"/>
          </a:p>
          <a:p>
            <a:r>
              <a:rPr lang="en-US" sz="1600" dirty="0"/>
              <a:t>.Kharif generated the highest average </a:t>
            </a:r>
            <a:r>
              <a:rPr lang="en-US" sz="1600" b="1" dirty="0"/>
              <a:t>revenue (₹7.11 lakh)</a:t>
            </a:r>
            <a:r>
              <a:rPr lang="en-US" sz="1600" dirty="0"/>
              <a:t> and </a:t>
            </a:r>
            <a:r>
              <a:rPr lang="en-US" sz="1600" b="1" dirty="0"/>
              <a:t>profit (₹1.79 lakh)</a:t>
            </a:r>
            <a:r>
              <a:rPr lang="en-US" sz="1600" dirty="0"/>
              <a:t> per record. </a:t>
            </a:r>
          </a:p>
          <a:p>
            <a:r>
              <a:rPr lang="en-US" sz="1600" dirty="0"/>
              <a:t>.Zaid showed the weakest economic performance, with an average </a:t>
            </a:r>
            <a:r>
              <a:rPr lang="en-US" sz="1600" b="1" dirty="0"/>
              <a:t>loss of ₹24,805</a:t>
            </a:r>
            <a:r>
              <a:rPr lang="en-US" sz="1600" dirty="0"/>
              <a:t>. </a:t>
            </a:r>
          </a:p>
          <a:p>
            <a:r>
              <a:rPr lang="en-US" sz="1600" dirty="0"/>
              <a:t>.Revenue and cost patterns indicate that higher production does not always translate into higher    profitability. </a:t>
            </a:r>
          </a:p>
          <a:p>
            <a:r>
              <a:rPr lang="en-US" sz="1600" b="1" dirty="0"/>
              <a:t>🌦️ Environmental Factors</a:t>
            </a:r>
            <a:endParaRPr lang="en-US" sz="1600" dirty="0"/>
          </a:p>
          <a:p>
            <a:r>
              <a:rPr lang="en-US" sz="1600" dirty="0"/>
              <a:t>.Kharif had the highest </a:t>
            </a:r>
            <a:r>
              <a:rPr lang="en-US" sz="1600" b="1" dirty="0"/>
              <a:t>rainfall (852.08 mm)</a:t>
            </a:r>
            <a:r>
              <a:rPr lang="en-US" sz="1600" dirty="0"/>
              <a:t> and </a:t>
            </a:r>
            <a:r>
              <a:rPr lang="en-US" sz="1600" b="1" dirty="0"/>
              <a:t>soil moisture (31.20%)</a:t>
            </a:r>
            <a:r>
              <a:rPr lang="en-US" sz="1600" dirty="0"/>
              <a:t>. </a:t>
            </a:r>
          </a:p>
          <a:p>
            <a:r>
              <a:rPr lang="en-US" sz="1600" dirty="0"/>
              <a:t>.Zaid had the highest average </a:t>
            </a:r>
            <a:r>
              <a:rPr lang="en-US" sz="1600" b="1" dirty="0"/>
              <a:t>temperature (</a:t>
            </a:r>
            <a:r>
              <a:rPr lang="en-US" sz="1600" b="1" dirty="0" err="1"/>
              <a:t>31.04°C</a:t>
            </a:r>
            <a:r>
              <a:rPr lang="en-US" sz="1600" b="1" dirty="0"/>
              <a:t>)</a:t>
            </a:r>
            <a:r>
              <a:rPr lang="en-US" sz="1600" dirty="0"/>
              <a:t> but the lowest soil moisture (</a:t>
            </a:r>
            <a:r>
              <a:rPr lang="en-US" sz="1600" b="1" dirty="0"/>
              <a:t>19.17%</a:t>
            </a:r>
            <a:r>
              <a:rPr lang="en-US" sz="1600" dirty="0"/>
              <a:t>). </a:t>
            </a:r>
          </a:p>
          <a:p>
            <a:r>
              <a:rPr lang="en-US" sz="1600" dirty="0"/>
              <a:t>.Rainfall showed only a </a:t>
            </a:r>
            <a:r>
              <a:rPr lang="en-US" sz="1600" b="1" dirty="0"/>
              <a:t>weak correlation with yield</a:t>
            </a:r>
            <a:r>
              <a:rPr lang="en-US" sz="1600" dirty="0"/>
              <a:t>, indicating that yield depends on multiple factors.</a:t>
            </a:r>
          </a:p>
          <a:p>
            <a:r>
              <a:rPr lang="en-US" sz="1600" b="1" dirty="0"/>
              <a:t>💧 Irrigation &amp; Water Efficiency</a:t>
            </a:r>
            <a:endParaRPr lang="en-US" sz="1600" dirty="0"/>
          </a:p>
          <a:p>
            <a:r>
              <a:rPr lang="en-US" sz="1600" b="1" dirty="0"/>
              <a:t>.Drip irrigation</a:t>
            </a:r>
            <a:r>
              <a:rPr lang="en-US" sz="1600" dirty="0"/>
              <a:t> achieved the highest average yield (</a:t>
            </a:r>
            <a:r>
              <a:rPr lang="en-US" sz="1600" b="1" dirty="0"/>
              <a:t>6.62 t/ha</a:t>
            </a:r>
            <a:r>
              <a:rPr lang="en-US" sz="1600" dirty="0"/>
              <a:t>). </a:t>
            </a:r>
          </a:p>
          <a:p>
            <a:r>
              <a:rPr lang="en-US" sz="1600" dirty="0"/>
              <a:t>.Water efficiency showed a </a:t>
            </a:r>
            <a:r>
              <a:rPr lang="en-US" sz="1600" b="1" dirty="0"/>
              <a:t>strong positive association with yield (r = 0.915)</a:t>
            </a:r>
            <a:r>
              <a:rPr lang="en-US" sz="1600" dirty="0"/>
              <a:t>. </a:t>
            </a:r>
          </a:p>
          <a:p>
            <a:r>
              <a:rPr lang="en-US" sz="1600" dirty="0"/>
              <a:t>.This highlights the importance of efficient water management in agricultural performance. </a:t>
            </a:r>
          </a:p>
          <a:p>
            <a:r>
              <a:rPr lang="en-US" sz="1600" b="1" dirty="0"/>
              <a:t>📊 Statistical &amp; Correlation Insights</a:t>
            </a:r>
            <a:endParaRPr lang="en-US" sz="1600" dirty="0"/>
          </a:p>
          <a:p>
            <a:r>
              <a:rPr lang="en-US" sz="1600" dirty="0"/>
              <a:t>.ANOVA gave </a:t>
            </a:r>
            <a:r>
              <a:rPr lang="en-US" sz="1600" b="1" dirty="0"/>
              <a:t>p = 0.233 (&gt; 0.05)</a:t>
            </a:r>
            <a:r>
              <a:rPr lang="en-US" sz="1600" dirty="0"/>
              <a:t>, so seasonal differences in mean yield were </a:t>
            </a:r>
            <a:r>
              <a:rPr lang="en-US" sz="1600" b="1" dirty="0"/>
              <a:t>not statistically significant</a:t>
            </a:r>
            <a:r>
              <a:rPr lang="en-US" sz="1600" dirty="0"/>
              <a:t> at the 5% level. </a:t>
            </a:r>
          </a:p>
          <a:p>
            <a:r>
              <a:rPr lang="en-US" sz="1600" dirty="0"/>
              <a:t>.Yield had strong associations with </a:t>
            </a:r>
            <a:r>
              <a:rPr lang="en-US" sz="1600" b="1" dirty="0"/>
              <a:t>water efficiency (r = 0.915)</a:t>
            </a:r>
            <a:r>
              <a:rPr lang="en-US" sz="1600" dirty="0"/>
              <a:t> and </a:t>
            </a:r>
            <a:r>
              <a:rPr lang="en-US" sz="1600" b="1" dirty="0"/>
              <a:t>production (r = 0.885)</a:t>
            </a:r>
            <a:r>
              <a:rPr lang="en-US" sz="1600" dirty="0"/>
              <a:t>. </a:t>
            </a:r>
          </a:p>
          <a:p>
            <a:r>
              <a:rPr lang="en-US" sz="1600" dirty="0"/>
              <a:t>.Fertilizer, rainfall and major soil nutrients showed relatively weak direct correlations with yield.</a:t>
            </a:r>
          </a:p>
          <a:p>
            <a:endParaRPr lang="en-IN" sz="1600" u="sng" dirty="0"/>
          </a:p>
          <a:p>
            <a:endParaRPr lang="en-IN" u="sng" dirty="0"/>
          </a:p>
        </p:txBody>
      </p:sp>
    </p:spTree>
    <p:extLst>
      <p:ext uri="{BB962C8B-B14F-4D97-AF65-F5344CB8AC3E}">
        <p14:creationId xmlns:p14="http://schemas.microsoft.com/office/powerpoint/2010/main" val="636816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Rectangle 3">
            <a:extLst>
              <a:ext uri="{FF2B5EF4-FFF2-40B4-BE49-F238E27FC236}">
                <a16:creationId xmlns:a16="http://schemas.microsoft.com/office/drawing/2014/main" id="{C9113741-260A-FEDF-9B7E-E96776B96FDF}"/>
              </a:ext>
            </a:extLst>
          </p:cNvPr>
          <p:cNvSpPr>
            <a:spLocks noChangeArrowheads="1"/>
          </p:cNvSpPr>
          <p:nvPr/>
        </p:nvSpPr>
        <p:spPr bwMode="auto">
          <a:xfrm>
            <a:off x="0" y="554803"/>
            <a:ext cx="1069570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Data Integration</a:t>
            </a:r>
            <a:r>
              <a:rPr kumimoji="0" lang="en-US" altLang="en-US" sz="1800" b="0" i="0" u="none" strike="noStrike" cap="none" normalizeH="0" baseline="0" dirty="0">
                <a:ln>
                  <a:noFill/>
                </a:ln>
                <a:solidFill>
                  <a:schemeClr val="tx1"/>
                </a:solidFill>
                <a:effectLst/>
                <a:latin typeface="Arial" panose="020B0604020202020204" pitchFamily="34" charset="0"/>
              </a:rPr>
              <a:t> – Live weather, rainfall, soil and market-price data can be integrated for continuous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Crop Yield Prediction</a:t>
            </a:r>
            <a:r>
              <a:rPr kumimoji="0" lang="en-US" altLang="en-US" sz="1800" b="0" i="0" u="none" strike="noStrike" cap="none" normalizeH="0" baseline="0" dirty="0">
                <a:ln>
                  <a:noFill/>
                </a:ln>
                <a:solidFill>
                  <a:schemeClr val="tx1"/>
                </a:solidFill>
                <a:effectLst/>
                <a:latin typeface="Arial" panose="020B0604020202020204" pitchFamily="34" charset="0"/>
              </a:rPr>
              <a:t> – Machine Learning models can be developed to predict crop yield before harvesting.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Crop Recommendation System</a:t>
            </a:r>
            <a:r>
              <a:rPr kumimoji="0" lang="en-US" altLang="en-US" sz="1800" b="0" i="0" u="none" strike="noStrike" cap="none" normalizeH="0" baseline="0" dirty="0">
                <a:ln>
                  <a:noFill/>
                </a:ln>
                <a:solidFill>
                  <a:schemeClr val="tx1"/>
                </a:solidFill>
                <a:effectLst/>
                <a:latin typeface="Arial" panose="020B0604020202020204" pitchFamily="34" charset="0"/>
              </a:rPr>
              <a:t> – Farmers can be recommended suitable crops based on season, soil and environmental conditions.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Weather-Based Farming Insights</a:t>
            </a:r>
            <a:r>
              <a:rPr kumimoji="0" lang="en-US" altLang="en-US" sz="1800" b="0" i="0" u="none" strike="noStrike" cap="none" normalizeH="0" baseline="0" dirty="0">
                <a:ln>
                  <a:noFill/>
                </a:ln>
                <a:solidFill>
                  <a:schemeClr val="tx1"/>
                </a:solidFill>
                <a:effectLst/>
                <a:latin typeface="Arial" panose="020B0604020202020204" pitchFamily="34" charset="0"/>
              </a:rPr>
              <a:t> – Weather forecasts can be combined with historical data to support better seasonal planning.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4">
            <a:extLst>
              <a:ext uri="{FF2B5EF4-FFF2-40B4-BE49-F238E27FC236}">
                <a16:creationId xmlns:a16="http://schemas.microsoft.com/office/drawing/2014/main" id="{3E7B3D2C-41CD-36BD-9E4A-65B64FC79697}"/>
              </a:ext>
            </a:extLst>
          </p:cNvPr>
          <p:cNvSpPr>
            <a:spLocks noChangeArrowheads="1"/>
          </p:cNvSpPr>
          <p:nvPr/>
        </p:nvSpPr>
        <p:spPr bwMode="auto">
          <a:xfrm>
            <a:off x="0" y="2858036"/>
            <a:ext cx="1038167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Advanced Regional Analysis</a:t>
            </a:r>
            <a:r>
              <a:rPr kumimoji="0" lang="en-US" altLang="en-US" sz="1800" b="0" i="0" u="none" strike="noStrike" cap="none" normalizeH="0" baseline="0" dirty="0">
                <a:ln>
                  <a:noFill/>
                </a:ln>
                <a:solidFill>
                  <a:schemeClr val="tx1"/>
                </a:solidFill>
                <a:effectLst/>
                <a:latin typeface="Arial" panose="020B0604020202020204" pitchFamily="34" charset="0"/>
              </a:rPr>
              <a:t> – More states, districts and farms can be included to identify region-specific agricultural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Smart Irrigation Optimization</a:t>
            </a:r>
            <a:r>
              <a:rPr kumimoji="0" lang="en-US" altLang="en-US" sz="1800" b="0" i="0" u="none" strike="noStrike" cap="none" normalizeH="0" baseline="0" dirty="0">
                <a:ln>
                  <a:noFill/>
                </a:ln>
                <a:solidFill>
                  <a:schemeClr val="tx1"/>
                </a:solidFill>
                <a:effectLst/>
                <a:latin typeface="Arial" panose="020B0604020202020204" pitchFamily="34" charset="0"/>
              </a:rPr>
              <a:t> – Data-driven models can recommend efficient irrigation methods and water requirements.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Early Disease/Pest Detection</a:t>
            </a:r>
            <a:r>
              <a:rPr kumimoji="0" lang="en-US" altLang="en-US" sz="1800" b="0" i="0" u="none" strike="noStrike" cap="none" normalizeH="0" baseline="0" dirty="0">
                <a:ln>
                  <a:noFill/>
                </a:ln>
                <a:solidFill>
                  <a:schemeClr val="tx1"/>
                </a:solidFill>
                <a:effectLst/>
                <a:latin typeface="Arial" panose="020B0604020202020204" pitchFamily="34" charset="0"/>
              </a:rPr>
              <a:t> – Historical risk data can be extended with AI/image-based techniques for early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Decision-Support Dashboard</a:t>
            </a:r>
            <a:r>
              <a:rPr kumimoji="0" lang="en-US" altLang="en-US" sz="1800" b="0" i="0" u="none" strike="noStrike" cap="none" normalizeH="0" baseline="0" dirty="0">
                <a:ln>
                  <a:noFill/>
                </a:ln>
                <a:solidFill>
                  <a:schemeClr val="tx1"/>
                </a:solidFill>
                <a:effectLst/>
                <a:latin typeface="Arial" panose="020B0604020202020204" pitchFamily="34" charset="0"/>
              </a:rPr>
              <a:t> – A Power BI dashboard can provide actionable insights for farmers, planners and agricultural organizations. </a:t>
            </a:r>
          </a:p>
        </p:txBody>
      </p:sp>
      <p:sp>
        <p:nvSpPr>
          <p:cNvPr id="15" name="TextBox 14">
            <a:extLst>
              <a:ext uri="{FF2B5EF4-FFF2-40B4-BE49-F238E27FC236}">
                <a16:creationId xmlns:a16="http://schemas.microsoft.com/office/drawing/2014/main" id="{90526D09-3234-3062-4E9B-0227E3280B39}"/>
              </a:ext>
            </a:extLst>
          </p:cNvPr>
          <p:cNvSpPr txBox="1"/>
          <p:nvPr/>
        </p:nvSpPr>
        <p:spPr>
          <a:xfrm>
            <a:off x="25416" y="22426"/>
            <a:ext cx="3934691" cy="400110"/>
          </a:xfrm>
          <a:prstGeom prst="rect">
            <a:avLst/>
          </a:prstGeom>
          <a:noFill/>
        </p:spPr>
        <p:txBody>
          <a:bodyPr wrap="square" rtlCol="0">
            <a:spAutoFit/>
          </a:bodyPr>
          <a:lstStyle/>
          <a:p>
            <a:r>
              <a:rPr lang="en-IN" sz="2000" b="1" u="sng" dirty="0"/>
              <a:t>FUTURE SCOPE:-</a:t>
            </a:r>
          </a:p>
        </p:txBody>
      </p:sp>
      <p:sp>
        <p:nvSpPr>
          <p:cNvPr id="16" name="TextBox 15">
            <a:extLst>
              <a:ext uri="{FF2B5EF4-FFF2-40B4-BE49-F238E27FC236}">
                <a16:creationId xmlns:a16="http://schemas.microsoft.com/office/drawing/2014/main" id="{2E741258-45EF-248D-938A-BADDDCE2886B}"/>
              </a:ext>
            </a:extLst>
          </p:cNvPr>
          <p:cNvSpPr txBox="1"/>
          <p:nvPr/>
        </p:nvSpPr>
        <p:spPr>
          <a:xfrm>
            <a:off x="240145" y="5486400"/>
            <a:ext cx="8654473" cy="923330"/>
          </a:xfrm>
          <a:prstGeom prst="rect">
            <a:avLst/>
          </a:prstGeom>
          <a:noFill/>
        </p:spPr>
        <p:txBody>
          <a:bodyPr wrap="square" rtlCol="0">
            <a:spAutoFit/>
          </a:bodyPr>
          <a:lstStyle/>
          <a:p>
            <a:r>
              <a:rPr lang="en-IN" b="1" dirty="0"/>
              <a:t>Conclusion:-</a:t>
            </a:r>
            <a:r>
              <a:rPr lang="en-US" dirty="0"/>
              <a:t>The project can be extended from descriptive analysis to predictive and prescriptive analytics, helping stakeholders make smarter and more sustainable agricultural decisions.</a:t>
            </a: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275371"/>
            <a:ext cx="6991928" cy="369332"/>
          </a:xfrm>
          <a:prstGeom prst="rect">
            <a:avLst/>
          </a:prstGeom>
          <a:noFill/>
        </p:spPr>
        <p:txBody>
          <a:bodyPr wrap="square">
            <a:spAutoFit/>
          </a:bodyPr>
          <a:lstStyle/>
          <a:p>
            <a:r>
              <a:rPr lang="en-IN" dirty="0">
                <a:hlinkClick r:id="rId3"/>
              </a:rPr>
              <a:t>Ashutosh-</a:t>
            </a:r>
            <a:r>
              <a:rPr lang="en-IN" dirty="0" err="1">
                <a:hlinkClick r:id="rId3"/>
              </a:rPr>
              <a:t>dutta07</a:t>
            </a:r>
            <a:r>
              <a:rPr lang="en-IN" dirty="0">
                <a:hlinkClick r:id="rId3"/>
              </a:rPr>
              <a:t> (Ashutosh </a:t>
            </a:r>
            <a:r>
              <a:rPr lang="en-IN" dirty="0" err="1">
                <a:hlinkClick r:id="rId3"/>
              </a:rPr>
              <a:t>kumar</a:t>
            </a:r>
            <a:r>
              <a:rPr lang="en-IN" dirty="0">
                <a:hlinkClick r:id="rId3"/>
              </a:rPr>
              <a: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E309D15-8D96-C6C2-29BE-CB6694583549}"/>
              </a:ext>
            </a:extLst>
          </p:cNvPr>
          <p:cNvPicPr>
            <a:picLocks noChangeAspect="1"/>
          </p:cNvPicPr>
          <p:nvPr/>
        </p:nvPicPr>
        <p:blipFill>
          <a:blip r:embed="rId3"/>
          <a:stretch>
            <a:fillRect/>
          </a:stretch>
        </p:blipFill>
        <p:spPr>
          <a:xfrm>
            <a:off x="675956" y="1439692"/>
            <a:ext cx="7955241" cy="503222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1503</TotalTime>
  <Words>1030</Words>
  <Application>Microsoft Office PowerPoint</Application>
  <PresentationFormat>Widescreen</PresentationFormat>
  <Paragraphs>112</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Trebuchet MS</vt:lpstr>
      <vt:lpstr>Wingdings</vt:lpstr>
      <vt:lpstr>Wingdings 3</vt:lpstr>
      <vt:lpstr>Facet</vt:lpstr>
      <vt:lpstr>Project Title :-Seasonal Agriculture Performance Analysis </vt:lpstr>
      <vt:lpstr>PROBLEM  STATEMENT</vt:lpstr>
      <vt:lpstr>PowerPoint Presentation</vt:lpstr>
      <vt:lpstr>WHO ARE THE END USERS?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Ashutosh dutta</cp:lastModifiedBy>
  <cp:revision>99</cp:revision>
  <dcterms:created xsi:type="dcterms:W3CDTF">2021-07-11T13:13:15Z</dcterms:created>
  <dcterms:modified xsi:type="dcterms:W3CDTF">2026-09-08T19:39:40Z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